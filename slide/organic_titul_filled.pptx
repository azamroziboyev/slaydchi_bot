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9" r:id="rId4"/>
    <p:sldId id="273" r:id="rId5"/>
    <p:sldId id="260" r:id="rId6"/>
    <p:sldId id="261" r:id="rId7"/>
    <p:sldId id="262" r:id="rId8"/>
    <p:sldId id="263" r:id="rId9"/>
    <p:sldId id="264" r:id="rId10"/>
    <p:sldId id="265" r:id="rId11"/>
    <p:sldId id="270"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Luckiest Guy" panose="020B0604020202020204" charset="0"/>
      <p:regular r:id="rId18"/>
    </p:embeddedFont>
    <p:embeddedFont>
      <p:font typeface="Ubuntu" panose="020B0604020202020204" charset="0"/>
      <p:bold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754" y="2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4241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83"/>
        <p:cNvGrpSpPr/>
        <p:nvPr/>
      </p:nvGrpSpPr>
      <p:grpSpPr>
        <a:xfrm>
          <a:off x="0" y="0"/>
          <a:ext cx="0" cy="0"/>
          <a:chOff x="0" y="0"/>
          <a:chExt cx="0" cy="0"/>
        </a:xfrm>
      </p:grpSpPr>
      <p:sp>
        <p:nvSpPr>
          <p:cNvPr id="84" name="Google Shape;84;p13"/>
          <p:cNvSpPr txBox="1"/>
          <p:nvPr/>
        </p:nvSpPr>
        <p:spPr>
          <a:xfrm>
            <a:off x="3645162" y="2539685"/>
            <a:ext cx="10997700" cy="5265000"/>
          </a:xfrm>
          <a:prstGeom prst="rect">
            <a:avLst/>
          </a:prstGeom>
          <a:noFill/>
          <a:ln>
            <a:noFill/>
          </a:ln>
        </p:spPr>
        <p:txBody>
          <a:bodyPr spcFirstLastPara="1" wrap="square" lIns="0" tIns="0" rIns="0" bIns="0" anchor="t" anchorCtr="0">
            <a:spAutoFit/>
          </a:bodyPr>
          <a:lstStyle/>
          <a:p>
            <a:r>
              <a:t>farming in uzbekistan</a:t>
            </a:r>
          </a:p>
        </p:txBody>
      </p:sp>
      <p:pic>
        <p:nvPicPr>
          <p:cNvPr id="86" name="Google Shape;86;p13"/>
          <p:cNvPicPr preferRelativeResize="0"/>
          <p:nvPr/>
        </p:nvPicPr>
        <p:blipFill rotWithShape="1">
          <a:blip r:embed="rId3">
            <a:alphaModFix/>
          </a:blip>
          <a:srcRect l="76184" t="56717"/>
          <a:stretch/>
        </p:blipFill>
        <p:spPr>
          <a:xfrm>
            <a:off x="13932301" y="5834426"/>
            <a:ext cx="4355400" cy="4452575"/>
          </a:xfrm>
          <a:prstGeom prst="rect">
            <a:avLst/>
          </a:prstGeom>
          <a:noFill/>
          <a:ln>
            <a:noFill/>
          </a:ln>
        </p:spPr>
      </p:pic>
      <p:sp>
        <p:nvSpPr>
          <p:cNvPr id="87" name="Google Shape;87;p13"/>
          <p:cNvSpPr/>
          <p:nvPr/>
        </p:nvSpPr>
        <p:spPr>
          <a:xfrm>
            <a:off x="-2109304" y="8472015"/>
            <a:ext cx="18400392" cy="3110685"/>
          </a:xfrm>
          <a:custGeom>
            <a:avLst/>
            <a:gdLst/>
            <a:ahLst/>
            <a:cxnLst/>
            <a:rect l="l" t="t" r="r" b="b"/>
            <a:pathLst>
              <a:path w="18400392" h="3110685" extrusionOk="0">
                <a:moveTo>
                  <a:pt x="0" y="0"/>
                </a:moveTo>
                <a:lnTo>
                  <a:pt x="18400392" y="0"/>
                </a:lnTo>
                <a:lnTo>
                  <a:pt x="18400392" y="3110685"/>
                </a:lnTo>
                <a:lnTo>
                  <a:pt x="0" y="3110685"/>
                </a:lnTo>
                <a:lnTo>
                  <a:pt x="0" y="0"/>
                </a:lnTo>
                <a:close/>
              </a:path>
            </a:pathLst>
          </a:custGeom>
          <a:blipFill rotWithShape="1">
            <a:blip r:embed="rId4">
              <a:alphaModFix/>
            </a:blip>
            <a:stretch>
              <a:fillRect/>
            </a:stretch>
          </a:blipFill>
          <a:ln>
            <a:noFill/>
          </a:ln>
        </p:spPr>
      </p:sp>
      <p:pic>
        <p:nvPicPr>
          <p:cNvPr id="88" name="Google Shape;88;p13"/>
          <p:cNvPicPr preferRelativeResize="0"/>
          <p:nvPr/>
        </p:nvPicPr>
        <p:blipFill rotWithShape="1">
          <a:blip r:embed="rId3">
            <a:alphaModFix/>
          </a:blip>
          <a:srcRect l="22276" t="73407" r="57928"/>
          <a:stretch/>
        </p:blipFill>
        <p:spPr>
          <a:xfrm>
            <a:off x="4073725" y="7551375"/>
            <a:ext cx="3620198" cy="2735624"/>
          </a:xfrm>
          <a:prstGeom prst="rect">
            <a:avLst/>
          </a:prstGeom>
          <a:noFill/>
          <a:ln>
            <a:noFill/>
          </a:ln>
        </p:spPr>
      </p:pic>
      <p:sp>
        <p:nvSpPr>
          <p:cNvPr id="89" name="Google Shape;89;p13"/>
          <p:cNvSpPr/>
          <p:nvPr/>
        </p:nvSpPr>
        <p:spPr>
          <a:xfrm rot="1573688">
            <a:off x="-2575253" y="3293857"/>
            <a:ext cx="3943919" cy="5375017"/>
          </a:xfrm>
          <a:custGeom>
            <a:avLst/>
            <a:gdLst/>
            <a:ahLst/>
            <a:cxnLst/>
            <a:rect l="l" t="t" r="r" b="b"/>
            <a:pathLst>
              <a:path w="3943919" h="5375017" extrusionOk="0">
                <a:moveTo>
                  <a:pt x="0" y="0"/>
                </a:moveTo>
                <a:lnTo>
                  <a:pt x="3943919" y="0"/>
                </a:lnTo>
                <a:lnTo>
                  <a:pt x="3943919" y="5375018"/>
                </a:lnTo>
                <a:lnTo>
                  <a:pt x="0" y="5375018"/>
                </a:lnTo>
                <a:lnTo>
                  <a:pt x="0" y="0"/>
                </a:lnTo>
                <a:close/>
              </a:path>
            </a:pathLst>
          </a:custGeom>
          <a:blipFill rotWithShape="1">
            <a:blip r:embed="rId5">
              <a:alphaModFix/>
            </a:blip>
            <a:stretch>
              <a:fillRect/>
            </a:stretch>
          </a:blipFill>
          <a:ln>
            <a:noFill/>
          </a:ln>
        </p:spPr>
      </p:sp>
      <p:pic>
        <p:nvPicPr>
          <p:cNvPr id="90" name="Google Shape;90;p13"/>
          <p:cNvPicPr preferRelativeResize="0"/>
          <p:nvPr/>
        </p:nvPicPr>
        <p:blipFill rotWithShape="1">
          <a:blip r:embed="rId3">
            <a:alphaModFix/>
          </a:blip>
          <a:srcRect t="34119" r="77724"/>
          <a:stretch/>
        </p:blipFill>
        <p:spPr>
          <a:xfrm>
            <a:off x="-34" y="3509800"/>
            <a:ext cx="4073750" cy="6777200"/>
          </a:xfrm>
          <a:prstGeom prst="rect">
            <a:avLst/>
          </a:prstGeom>
          <a:noFill/>
          <a:ln>
            <a:noFill/>
          </a:ln>
        </p:spPr>
      </p:pic>
      <p:sp>
        <p:nvSpPr>
          <p:cNvPr id="91" name="Google Shape;91;p13"/>
          <p:cNvSpPr/>
          <p:nvPr/>
        </p:nvSpPr>
        <p:spPr>
          <a:xfrm>
            <a:off x="-383517" y="774169"/>
            <a:ext cx="4457249" cy="2735637"/>
          </a:xfrm>
          <a:custGeom>
            <a:avLst/>
            <a:gdLst/>
            <a:ahLst/>
            <a:cxnLst/>
            <a:rect l="l" t="t" r="r" b="b"/>
            <a:pathLst>
              <a:path w="4457249" h="2735637" extrusionOk="0">
                <a:moveTo>
                  <a:pt x="0" y="0"/>
                </a:moveTo>
                <a:lnTo>
                  <a:pt x="4457249" y="0"/>
                </a:lnTo>
                <a:lnTo>
                  <a:pt x="4457249" y="2735636"/>
                </a:lnTo>
                <a:lnTo>
                  <a:pt x="0" y="2735636"/>
                </a:lnTo>
                <a:lnTo>
                  <a:pt x="0" y="0"/>
                </a:lnTo>
                <a:close/>
              </a:path>
            </a:pathLst>
          </a:custGeom>
          <a:blipFill rotWithShape="1">
            <a:blip r:embed="rId6">
              <a:alphaModFix/>
            </a:blip>
            <a:stretch>
              <a:fillRect/>
            </a:stretch>
          </a:blipFill>
          <a:ln>
            <a:noFill/>
          </a:ln>
        </p:spPr>
      </p:sp>
      <p:sp>
        <p:nvSpPr>
          <p:cNvPr id="92" name="Google Shape;92;p13"/>
          <p:cNvSpPr/>
          <p:nvPr/>
        </p:nvSpPr>
        <p:spPr>
          <a:xfrm rot="-1264507" flipH="1">
            <a:off x="14395621" y="201710"/>
            <a:ext cx="3790933" cy="4376258"/>
          </a:xfrm>
          <a:custGeom>
            <a:avLst/>
            <a:gdLst/>
            <a:ahLst/>
            <a:cxnLst/>
            <a:rect l="l" t="t" r="r" b="b"/>
            <a:pathLst>
              <a:path w="3790933" h="4376258" extrusionOk="0">
                <a:moveTo>
                  <a:pt x="3790934" y="0"/>
                </a:moveTo>
                <a:lnTo>
                  <a:pt x="0" y="0"/>
                </a:lnTo>
                <a:lnTo>
                  <a:pt x="0" y="4376258"/>
                </a:lnTo>
                <a:lnTo>
                  <a:pt x="3790934" y="4376258"/>
                </a:lnTo>
                <a:lnTo>
                  <a:pt x="3790934" y="0"/>
                </a:lnTo>
                <a:close/>
              </a:path>
            </a:pathLst>
          </a:custGeom>
          <a:blipFill rotWithShape="1">
            <a:blip r:embed="rId7">
              <a:alphaModFix/>
            </a:blip>
            <a:stretch>
              <a:fillRect/>
            </a:stretch>
          </a:blipFill>
          <a:ln>
            <a:noFill/>
          </a:ln>
        </p:spPr>
      </p:sp>
      <p:sp>
        <p:nvSpPr>
          <p:cNvPr id="93" name="Google Shape;93;p13"/>
          <p:cNvSpPr/>
          <p:nvPr/>
        </p:nvSpPr>
        <p:spPr>
          <a:xfrm flipH="1">
            <a:off x="13094493" y="1900071"/>
            <a:ext cx="4355401" cy="3413545"/>
          </a:xfrm>
          <a:custGeom>
            <a:avLst/>
            <a:gdLst/>
            <a:ahLst/>
            <a:cxnLst/>
            <a:rect l="l" t="t" r="r" b="b"/>
            <a:pathLst>
              <a:path w="4355401" h="3413545" extrusionOk="0">
                <a:moveTo>
                  <a:pt x="4355401" y="0"/>
                </a:moveTo>
                <a:lnTo>
                  <a:pt x="0" y="0"/>
                </a:lnTo>
                <a:lnTo>
                  <a:pt x="0" y="3413545"/>
                </a:lnTo>
                <a:lnTo>
                  <a:pt x="4355401" y="3413545"/>
                </a:lnTo>
                <a:lnTo>
                  <a:pt x="4355401" y="0"/>
                </a:lnTo>
                <a:close/>
              </a:path>
            </a:pathLst>
          </a:custGeom>
          <a:blipFill rotWithShape="1">
            <a:blip r:embed="rId8">
              <a:alphaModFix/>
            </a:blip>
            <a:stretch>
              <a:fillRect/>
            </a:stretch>
          </a:blipFill>
          <a:ln>
            <a:noFill/>
          </a:ln>
        </p:spPr>
      </p:sp>
      <p:sp>
        <p:nvSpPr>
          <p:cNvPr id="94" name="Google Shape;94;p13"/>
          <p:cNvSpPr/>
          <p:nvPr/>
        </p:nvSpPr>
        <p:spPr>
          <a:xfrm>
            <a:off x="16255449" y="3887467"/>
            <a:ext cx="1244315" cy="1426149"/>
          </a:xfrm>
          <a:custGeom>
            <a:avLst/>
            <a:gdLst/>
            <a:ahLst/>
            <a:cxnLst/>
            <a:rect l="l" t="t" r="r" b="b"/>
            <a:pathLst>
              <a:path w="1244315" h="1426149" extrusionOk="0">
                <a:moveTo>
                  <a:pt x="0" y="0"/>
                </a:moveTo>
                <a:lnTo>
                  <a:pt x="1244315" y="0"/>
                </a:lnTo>
                <a:lnTo>
                  <a:pt x="1244315" y="1426149"/>
                </a:lnTo>
                <a:lnTo>
                  <a:pt x="0" y="1426149"/>
                </a:lnTo>
                <a:lnTo>
                  <a:pt x="0" y="0"/>
                </a:lnTo>
                <a:close/>
              </a:path>
            </a:pathLst>
          </a:custGeom>
          <a:blipFill rotWithShape="1">
            <a:blip r:embed="rId9">
              <a:alphaModFix/>
            </a:blip>
            <a:stretch>
              <a:fillRect/>
            </a:stretch>
          </a:blipFill>
          <a:ln>
            <a:noFill/>
          </a:ln>
        </p:spPr>
      </p:sp>
      <p:sp>
        <p:nvSpPr>
          <p:cNvPr id="95" name="Google Shape;95;p13"/>
          <p:cNvSpPr txBox="1"/>
          <p:nvPr/>
        </p:nvSpPr>
        <p:spPr>
          <a:xfrm>
            <a:off x="5555047" y="1950217"/>
            <a:ext cx="7177906" cy="507365"/>
          </a:xfrm>
          <a:prstGeom prst="rect">
            <a:avLst/>
          </a:prstGeom>
          <a:noFill/>
          <a:ln>
            <a:noFill/>
          </a:ln>
        </p:spPr>
        <p:txBody>
          <a:bodyPr spcFirstLastPara="1" wrap="square" lIns="0" tIns="0" rIns="0" bIns="0" anchor="t" anchorCtr="0">
            <a:spAutoFit/>
          </a:bodyPr>
          <a:lstStyle/>
          <a:p>
            <a:r>
              <a:t>azamjon roziboyev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99"/>
        <p:cNvGrpSpPr/>
        <p:nvPr/>
      </p:nvGrpSpPr>
      <p:grpSpPr>
        <a:xfrm>
          <a:off x="0" y="0"/>
          <a:ext cx="0" cy="0"/>
          <a:chOff x="0" y="0"/>
          <a:chExt cx="0" cy="0"/>
        </a:xfrm>
      </p:grpSpPr>
      <p:sp>
        <p:nvSpPr>
          <p:cNvPr id="100" name="Google Shape;100;p14"/>
          <p:cNvSpPr txBox="1"/>
          <p:nvPr/>
        </p:nvSpPr>
        <p:spPr>
          <a:xfrm>
            <a:off x="1028700" y="1381760"/>
            <a:ext cx="16523018" cy="960755"/>
          </a:xfrm>
          <a:prstGeom prst="rect">
            <a:avLst/>
          </a:prstGeom>
          <a:noFill/>
          <a:ln>
            <a:noFill/>
          </a:ln>
        </p:spPr>
        <p:txBody>
          <a:bodyPr spcFirstLastPara="1" wrap="square" lIns="0" tIns="0" rIns="0" bIns="0" anchor="t" anchorCtr="0">
            <a:spAutoFit/>
          </a:bodyPr>
          <a:lstStyle/>
          <a:p>
            <a:r>
              <a:t>Reja:</a:t>
            </a:r>
          </a:p>
        </p:txBody>
      </p:sp>
      <p:sp>
        <p:nvSpPr>
          <p:cNvPr id="101" name="Google Shape;101;p14"/>
          <p:cNvSpPr txBox="1"/>
          <p:nvPr/>
        </p:nvSpPr>
        <p:spPr>
          <a:xfrm>
            <a:off x="6813995" y="3873241"/>
            <a:ext cx="4659900" cy="4602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300" b="0" i="0" u="none" strike="noStrike" cap="none">
                <a:solidFill>
                  <a:srgbClr val="2F394E"/>
                </a:solidFill>
                <a:latin typeface="Ubuntu"/>
                <a:ea typeface="Ubuntu"/>
                <a:cs typeface="Ubuntu"/>
                <a:sym typeface="Ubuntu"/>
              </a:rPr>
              <a:t>Click on the "PowerPoint" button below this presentation preview. Start editing your presentation.</a:t>
            </a:r>
            <a:endParaRPr/>
          </a:p>
          <a:p>
            <a:pPr marL="0" marR="0" lvl="0" indent="0" algn="ctr" rtl="0">
              <a:lnSpc>
                <a:spcPct val="120000"/>
              </a:lnSpc>
              <a:spcBef>
                <a:spcPts val="0"/>
              </a:spcBef>
              <a:spcAft>
                <a:spcPts val="0"/>
              </a:spcAft>
              <a:buNone/>
            </a:pPr>
            <a:endParaRPr sz="2300" b="0" i="0" u="none" strike="noStrike" cap="none">
              <a:solidFill>
                <a:srgbClr val="2F394E"/>
              </a:solidFill>
              <a:latin typeface="Ubuntu"/>
              <a:ea typeface="Ubuntu"/>
              <a:cs typeface="Ubuntu"/>
              <a:sym typeface="Ubuntu"/>
            </a:endParaRPr>
          </a:p>
          <a:p>
            <a:pPr marL="0" marR="0" lvl="0" indent="0" algn="ctr" rtl="0">
              <a:lnSpc>
                <a:spcPct val="120000"/>
              </a:lnSpc>
              <a:spcBef>
                <a:spcPts val="0"/>
              </a:spcBef>
              <a:spcAft>
                <a:spcPts val="0"/>
              </a:spcAft>
              <a:buNone/>
            </a:pPr>
            <a:r>
              <a:rPr lang="en-US" sz="2300" b="1" i="0" u="sng" strike="noStrike" cap="none">
                <a:solidFill>
                  <a:srgbClr val="2F394E"/>
                </a:solidFill>
                <a:latin typeface="Ubuntu"/>
                <a:ea typeface="Ubuntu"/>
                <a:cs typeface="Ubuntu"/>
                <a:sym typeface="Ubuntu"/>
              </a:rPr>
              <a:t>Alternative:</a:t>
            </a:r>
            <a:r>
              <a:rPr lang="en-US" sz="2300" b="0" i="0" u="none" strike="noStrike" cap="none">
                <a:solidFill>
                  <a:srgbClr val="2F394E"/>
                </a:solidFill>
                <a:latin typeface="Ubuntu"/>
                <a:ea typeface="Ubuntu"/>
                <a:cs typeface="Ubuntu"/>
                <a:sym typeface="Ubuntu"/>
              </a:rPr>
              <a:t> From Canva template file, Click on the "Share" button on the top right corner in Canva and click on "More" at the bottom of the menu. Enter "PowerPoint" in the search bar and click on the PowerPoint icon to download.</a:t>
            </a:r>
            <a:endParaRPr/>
          </a:p>
        </p:txBody>
      </p:sp>
      <p:sp>
        <p:nvSpPr>
          <p:cNvPr id="102" name="Google Shape;102;p14"/>
          <p:cNvSpPr txBox="1"/>
          <p:nvPr/>
        </p:nvSpPr>
        <p:spPr>
          <a:xfrm>
            <a:off x="816091" y="3046212"/>
            <a:ext cx="5141301" cy="523875"/>
          </a:xfrm>
          <a:prstGeom prst="rect">
            <a:avLst/>
          </a:prstGeom>
          <a:noFill/>
          <a:ln>
            <a:noFill/>
          </a:ln>
        </p:spPr>
        <p:txBody>
          <a:bodyPr spcFirstLastPara="1" wrap="square" lIns="0" tIns="0" rIns="0" bIns="0" anchor="t" anchorCtr="0">
            <a:spAutoFit/>
          </a:bodyPr>
          <a:lstStyle/>
          <a:p>
            <a:r>
              <a:t>1. Uzbekiston qishloq xo‘jaligining asosiy tarmoqlari va mahsulotlari</a:t>
            </a:r>
          </a:p>
        </p:txBody>
      </p:sp>
      <p:sp>
        <p:nvSpPr>
          <p:cNvPr id="103" name="Google Shape;103;p14"/>
          <p:cNvSpPr txBox="1"/>
          <p:nvPr/>
        </p:nvSpPr>
        <p:spPr>
          <a:xfrm>
            <a:off x="6573349" y="3046212"/>
            <a:ext cx="5141301" cy="523875"/>
          </a:xfrm>
          <a:prstGeom prst="rect">
            <a:avLst/>
          </a:prstGeom>
          <a:noFill/>
          <a:ln>
            <a:noFill/>
          </a:ln>
        </p:spPr>
        <p:txBody>
          <a:bodyPr spcFirstLastPara="1" wrap="square" lIns="0" tIns="0" rIns="0" bIns="0" anchor="t" anchorCtr="0">
            <a:spAutoFit/>
          </a:bodyPr>
          <a:lstStyle/>
          <a:p>
            <a:r>
              <a:t>Bug‘doy, paxta, mevasabzavot yetishtirish.</a:t>
            </a:r>
          </a:p>
        </p:txBody>
      </p:sp>
      <p:sp>
        <p:nvSpPr>
          <p:cNvPr id="104" name="Google Shape;104;p14"/>
          <p:cNvSpPr txBox="1"/>
          <p:nvPr/>
        </p:nvSpPr>
        <p:spPr>
          <a:xfrm>
            <a:off x="11714651" y="3046212"/>
            <a:ext cx="5141301" cy="523875"/>
          </a:xfrm>
          <a:prstGeom prst="rect">
            <a:avLst/>
          </a:prstGeom>
          <a:noFill/>
          <a:ln>
            <a:noFill/>
          </a:ln>
        </p:spPr>
        <p:txBody>
          <a:bodyPr spcFirstLastPara="1" wrap="square" lIns="0" tIns="0" rIns="0" bIns="0" anchor="t" anchorCtr="0">
            <a:spAutoFit/>
          </a:bodyPr>
          <a:lstStyle/>
          <a:p>
            <a:r>
              <a:t>Chorvachilik va ipakchilikning ahamiyati.</a:t>
            </a:r>
          </a:p>
        </p:txBody>
      </p:sp>
      <p:sp>
        <p:nvSpPr>
          <p:cNvPr id="105" name="Google Shape;105;p14"/>
          <p:cNvSpPr txBox="1"/>
          <p:nvPr/>
        </p:nvSpPr>
        <p:spPr>
          <a:xfrm>
            <a:off x="816091" y="3879756"/>
            <a:ext cx="5141400" cy="545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300" b="0" i="0" u="none" strike="noStrike" cap="none" dirty="0">
                <a:solidFill>
                  <a:srgbClr val="2F394E"/>
                </a:solidFill>
                <a:latin typeface="Ubuntu"/>
                <a:ea typeface="Ubuntu"/>
                <a:cs typeface="Ubuntu"/>
                <a:sym typeface="Ubuntu"/>
              </a:rPr>
              <a:t>Click on the "Google Slides" button below this presentation preview. Make sure to sign in to your Google account. Click on "Make a copy." Start editing your presentation.</a:t>
            </a:r>
            <a:endParaRPr dirty="0"/>
          </a:p>
          <a:p>
            <a:pPr marL="0" marR="0" lvl="0" indent="0" algn="ctr" rtl="0">
              <a:lnSpc>
                <a:spcPct val="120000"/>
              </a:lnSpc>
              <a:spcBef>
                <a:spcPts val="0"/>
              </a:spcBef>
              <a:spcAft>
                <a:spcPts val="0"/>
              </a:spcAft>
              <a:buNone/>
            </a:pPr>
            <a:endParaRPr sz="2300" b="0" i="0" u="none" strike="noStrike" cap="none" dirty="0">
              <a:solidFill>
                <a:srgbClr val="2F394E"/>
              </a:solidFill>
              <a:latin typeface="Ubuntu"/>
              <a:ea typeface="Ubuntu"/>
              <a:cs typeface="Ubuntu"/>
              <a:sym typeface="Ubuntu"/>
            </a:endParaRPr>
          </a:p>
          <a:p>
            <a:pPr marL="0" marR="0" lvl="0" indent="0" algn="ctr" rtl="0">
              <a:lnSpc>
                <a:spcPct val="120000"/>
              </a:lnSpc>
              <a:spcBef>
                <a:spcPts val="0"/>
              </a:spcBef>
              <a:spcAft>
                <a:spcPts val="0"/>
              </a:spcAft>
              <a:buNone/>
            </a:pPr>
            <a:r>
              <a:rPr lang="en-US" sz="2300" b="1" i="0" u="sng" strike="noStrike" cap="none" dirty="0">
                <a:solidFill>
                  <a:srgbClr val="2F394E"/>
                </a:solidFill>
                <a:latin typeface="Ubuntu"/>
                <a:ea typeface="Ubuntu"/>
                <a:cs typeface="Ubuntu"/>
                <a:sym typeface="Ubuntu"/>
              </a:rPr>
              <a:t>Alternative:</a:t>
            </a:r>
            <a:r>
              <a:rPr lang="en-US" sz="2300" b="0" i="0" u="none" strike="noStrike" cap="none" dirty="0">
                <a:solidFill>
                  <a:srgbClr val="2F394E"/>
                </a:solidFill>
                <a:latin typeface="Ubuntu"/>
                <a:ea typeface="Ubuntu"/>
                <a:cs typeface="Ubuntu"/>
                <a:sym typeface="Ubuntu"/>
              </a:rPr>
              <a:t> Click on the "Share" button on the top right corner in Canva and click on "More" at the bottom of the menu. Enter "Google Drive" in the search bar and click on the </a:t>
            </a:r>
            <a:r>
              <a:rPr lang="en-US" sz="2300" b="0" i="0" u="none" strike="noStrike" cap="none" dirty="0" err="1">
                <a:solidFill>
                  <a:srgbClr val="2F394E"/>
                </a:solidFill>
                <a:latin typeface="Ubuntu"/>
                <a:ea typeface="Ubuntu"/>
                <a:cs typeface="Ubuntu"/>
                <a:sym typeface="Ubuntu"/>
              </a:rPr>
              <a:t>GDrive</a:t>
            </a:r>
            <a:r>
              <a:rPr lang="en-US" sz="2300" b="0" i="0" u="none" strike="noStrike" cap="none" dirty="0">
                <a:solidFill>
                  <a:srgbClr val="2F394E"/>
                </a:solidFill>
                <a:latin typeface="Ubuntu"/>
                <a:ea typeface="Ubuntu"/>
                <a:cs typeface="Ubuntu"/>
                <a:sym typeface="Ubuntu"/>
              </a:rPr>
              <a:t> icon to add this design as a Google slide in your </a:t>
            </a:r>
            <a:r>
              <a:rPr lang="en-US" sz="2300" b="0" i="0" u="none" strike="noStrike" cap="none" dirty="0" err="1">
                <a:solidFill>
                  <a:srgbClr val="2F394E"/>
                </a:solidFill>
                <a:latin typeface="Ubuntu"/>
                <a:ea typeface="Ubuntu"/>
                <a:cs typeface="Ubuntu"/>
                <a:sym typeface="Ubuntu"/>
              </a:rPr>
              <a:t>GDrive</a:t>
            </a:r>
            <a:r>
              <a:rPr lang="en-US" sz="2300" b="0" i="0" u="none" strike="noStrike" cap="none" dirty="0">
                <a:solidFill>
                  <a:srgbClr val="2F394E"/>
                </a:solidFill>
                <a:latin typeface="Ubuntu"/>
                <a:ea typeface="Ubuntu"/>
                <a:cs typeface="Ubuntu"/>
                <a:sym typeface="Ubuntu"/>
              </a:rPr>
              <a:t>.</a:t>
            </a:r>
            <a:endParaRPr dirty="0"/>
          </a:p>
        </p:txBody>
      </p:sp>
      <p:sp>
        <p:nvSpPr>
          <p:cNvPr id="106" name="Google Shape;106;p14"/>
          <p:cNvSpPr txBox="1"/>
          <p:nvPr/>
        </p:nvSpPr>
        <p:spPr>
          <a:xfrm>
            <a:off x="12129234" y="3873241"/>
            <a:ext cx="4312200" cy="2053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300" b="0" i="0" u="none" strike="noStrike" cap="none">
                <a:solidFill>
                  <a:srgbClr val="2F394E"/>
                </a:solidFill>
                <a:latin typeface="Ubuntu"/>
                <a:ea typeface="Ubuntu"/>
                <a:cs typeface="Ubuntu"/>
                <a:sym typeface="Ubuntu"/>
              </a:rPr>
              <a:t>Click on the "Canva" button under this presentation preview. Start editing your presentation. You need to sign in to your Canva account.</a:t>
            </a:r>
            <a:endParaRPr/>
          </a:p>
        </p:txBody>
      </p:sp>
      <p:sp>
        <p:nvSpPr>
          <p:cNvPr id="107" name="Google Shape;107;p14"/>
          <p:cNvSpPr/>
          <p:nvPr/>
        </p:nvSpPr>
        <p:spPr>
          <a:xfrm flipH="1">
            <a:off x="11714651" y="6614351"/>
            <a:ext cx="3517978" cy="3006272"/>
          </a:xfrm>
          <a:custGeom>
            <a:avLst/>
            <a:gdLst/>
            <a:ahLst/>
            <a:cxnLst/>
            <a:rect l="l" t="t" r="r" b="b"/>
            <a:pathLst>
              <a:path w="3517978" h="3006272" extrusionOk="0">
                <a:moveTo>
                  <a:pt x="3517978" y="0"/>
                </a:moveTo>
                <a:lnTo>
                  <a:pt x="0" y="0"/>
                </a:lnTo>
                <a:lnTo>
                  <a:pt x="0" y="3006273"/>
                </a:lnTo>
                <a:lnTo>
                  <a:pt x="3517978" y="3006273"/>
                </a:lnTo>
                <a:lnTo>
                  <a:pt x="3517978" y="0"/>
                </a:lnTo>
                <a:close/>
              </a:path>
            </a:pathLst>
          </a:custGeom>
          <a:blipFill rotWithShape="1">
            <a:blip r:embed="rId3">
              <a:alphaModFix/>
            </a:blip>
            <a:stretch>
              <a:fillRect/>
            </a:stretch>
          </a:blipFill>
          <a:ln>
            <a:noFill/>
          </a:ln>
        </p:spPr>
      </p:sp>
      <p:sp>
        <p:nvSpPr>
          <p:cNvPr id="108" name="Google Shape;108;p14"/>
          <p:cNvSpPr/>
          <p:nvPr/>
        </p:nvSpPr>
        <p:spPr>
          <a:xfrm rot="320685">
            <a:off x="16189966" y="2396111"/>
            <a:ext cx="1492958" cy="7331488"/>
          </a:xfrm>
          <a:custGeom>
            <a:avLst/>
            <a:gdLst/>
            <a:ahLst/>
            <a:cxnLst/>
            <a:rect l="l" t="t" r="r" b="b"/>
            <a:pathLst>
              <a:path w="1492958" h="7331488" extrusionOk="0">
                <a:moveTo>
                  <a:pt x="0" y="0"/>
                </a:moveTo>
                <a:lnTo>
                  <a:pt x="1492958" y="0"/>
                </a:lnTo>
                <a:lnTo>
                  <a:pt x="1492958" y="7331488"/>
                </a:lnTo>
                <a:lnTo>
                  <a:pt x="0" y="7331488"/>
                </a:lnTo>
                <a:lnTo>
                  <a:pt x="0" y="0"/>
                </a:lnTo>
                <a:close/>
              </a:path>
            </a:pathLst>
          </a:custGeom>
          <a:blipFill rotWithShape="1">
            <a:blip r:embed="rId4">
              <a:alphaModFix/>
            </a:blip>
            <a:stretch>
              <a:fillRect/>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147"/>
        <p:cNvGrpSpPr/>
        <p:nvPr/>
      </p:nvGrpSpPr>
      <p:grpSpPr>
        <a:xfrm>
          <a:off x="0" y="0"/>
          <a:ext cx="0" cy="0"/>
          <a:chOff x="0" y="0"/>
          <a:chExt cx="0" cy="0"/>
        </a:xfrm>
      </p:grpSpPr>
      <p:sp>
        <p:nvSpPr>
          <p:cNvPr id="151" name="Google Shape;151;p16"/>
          <p:cNvSpPr txBox="1"/>
          <p:nvPr/>
        </p:nvSpPr>
        <p:spPr>
          <a:xfrm>
            <a:off x="4424516" y="1308412"/>
            <a:ext cx="7470331" cy="4255647"/>
          </a:xfrm>
          <a:prstGeom prst="rect">
            <a:avLst/>
          </a:prstGeom>
          <a:noFill/>
          <a:ln>
            <a:noFill/>
          </a:ln>
        </p:spPr>
        <p:txBody>
          <a:bodyPr spcFirstLastPara="1" wrap="square" lIns="50800" tIns="50800" rIns="50800" bIns="50800" anchor="ctr" anchorCtr="0">
            <a:noAutofit/>
          </a:bodyPr>
          <a:lstStyle/>
          <a:p>
            <a:pPr marL="0" marR="0" lvl="0" indent="0" algn="ctr" rtl="0">
              <a:lnSpc>
                <a:spcPct val="178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6"/>
          <p:cNvSpPr txBox="1"/>
          <p:nvPr/>
        </p:nvSpPr>
        <p:spPr>
          <a:xfrm>
            <a:off x="7816287" y="4374942"/>
            <a:ext cx="4516800" cy="884700"/>
          </a:xfrm>
          <a:prstGeom prst="rect">
            <a:avLst/>
          </a:prstGeom>
          <a:noFill/>
          <a:ln>
            <a:noFill/>
          </a:ln>
        </p:spPr>
        <p:txBody>
          <a:bodyPr spcFirstLastPara="1" wrap="square" lIns="0" tIns="0" rIns="0" bIns="0" anchor="t" anchorCtr="0">
            <a:spAutoFit/>
          </a:bodyPr>
          <a:lstStyle/>
          <a:p>
            <a:r>
              <a:t>Qishloq xo‘jaligi O‘zbekistonda  </a:t>
            </a:r>
          </a:p>
          <a:p/>
          <a:p>
            <a:r>
              <a:t>O‘zbekiston qishloq xo‘jaligi iqlimi, suv resurslari va unumdor yerlari tufayli rivojlangan. Asosiy ekinlar—paxta, bug‘doy, meva va sabzavotlar.  </a:t>
            </a:r>
          </a:p>
          <a:p/>
          <a:p>
            <a:r>
              <a:t>Suvdan samarali foydalanish va zamonaviy texnologiyalarni joriy etish mahsuldorlikni oshirishda muhim ahamiyatga ega.  </a:t>
            </a:r>
          </a:p>
          <a:p/>
          <a:p>
            <a:r>
              <a:t>Qishloq xo‘jaligi iqtisodiyotda muhim rol o‘ynab, aholining qismini bandlik bilan ta’minlaydi.</a:t>
            </a:r>
          </a:p>
        </p:txBody>
      </p:sp>
      <p:sp>
        <p:nvSpPr>
          <p:cNvPr id="153" name="Google Shape;153;p16"/>
          <p:cNvSpPr txBox="1"/>
          <p:nvPr/>
        </p:nvSpPr>
        <p:spPr>
          <a:xfrm>
            <a:off x="8159681" y="1037599"/>
            <a:ext cx="3552300" cy="2047200"/>
          </a:xfrm>
          <a:prstGeom prst="rect">
            <a:avLst/>
          </a:prstGeom>
          <a:noFill/>
          <a:ln>
            <a:noFill/>
          </a:ln>
        </p:spPr>
        <p:txBody>
          <a:bodyPr spcFirstLastPara="1" wrap="square" lIns="0" tIns="0" rIns="0" bIns="0" anchor="t" anchorCtr="0">
            <a:spAutoFit/>
          </a:bodyPr>
          <a:lstStyle/>
          <a:p>
            <a:r>
              <a:t>1. Uzbekiston qishloq xo‘jaligining asosiy tarmoqlari va mahsulotlari</a:t>
            </a:r>
          </a:p>
        </p:txBody>
      </p:sp>
      <p:sp>
        <p:nvSpPr>
          <p:cNvPr id="154" name="Google Shape;154;p16"/>
          <p:cNvSpPr/>
          <p:nvPr/>
        </p:nvSpPr>
        <p:spPr>
          <a:xfrm>
            <a:off x="-281927" y="1348584"/>
            <a:ext cx="3945140" cy="5022748"/>
          </a:xfrm>
          <a:custGeom>
            <a:avLst/>
            <a:gdLst/>
            <a:ahLst/>
            <a:cxnLst/>
            <a:rect l="l" t="t" r="r" b="b"/>
            <a:pathLst>
              <a:path w="3945140" h="5022748" extrusionOk="0">
                <a:moveTo>
                  <a:pt x="0" y="0"/>
                </a:moveTo>
                <a:lnTo>
                  <a:pt x="3945141" y="0"/>
                </a:lnTo>
                <a:lnTo>
                  <a:pt x="3945141" y="5022748"/>
                </a:lnTo>
                <a:lnTo>
                  <a:pt x="0" y="5022748"/>
                </a:lnTo>
                <a:lnTo>
                  <a:pt x="0" y="0"/>
                </a:lnTo>
                <a:close/>
              </a:path>
            </a:pathLst>
          </a:custGeom>
          <a:blipFill rotWithShape="1">
            <a:blip r:embed="rId3">
              <a:alphaModFix/>
            </a:blip>
            <a:stretch>
              <a:fillRect/>
            </a:stretch>
          </a:blipFill>
          <a:ln>
            <a:noFill/>
          </a:ln>
        </p:spPr>
      </p:sp>
      <p:sp>
        <p:nvSpPr>
          <p:cNvPr id="156" name="Google Shape;156;p16"/>
          <p:cNvSpPr/>
          <p:nvPr/>
        </p:nvSpPr>
        <p:spPr>
          <a:xfrm>
            <a:off x="12495046" y="6839743"/>
            <a:ext cx="5792954" cy="3606114"/>
          </a:xfrm>
          <a:custGeom>
            <a:avLst/>
            <a:gdLst/>
            <a:ahLst/>
            <a:cxnLst/>
            <a:rect l="l" t="t" r="r" b="b"/>
            <a:pathLst>
              <a:path w="5792954" h="3606114" extrusionOk="0">
                <a:moveTo>
                  <a:pt x="0" y="0"/>
                </a:moveTo>
                <a:lnTo>
                  <a:pt x="5792954" y="0"/>
                </a:lnTo>
                <a:lnTo>
                  <a:pt x="5792954" y="3606114"/>
                </a:lnTo>
                <a:lnTo>
                  <a:pt x="0" y="3606114"/>
                </a:lnTo>
                <a:lnTo>
                  <a:pt x="0" y="0"/>
                </a:lnTo>
                <a:close/>
              </a:path>
            </a:pathLst>
          </a:custGeom>
          <a:blipFill rotWithShape="1">
            <a:blip r:embed="rId4">
              <a:alphaModFix/>
            </a:blip>
            <a:stretch>
              <a:fillRect/>
            </a:stretch>
          </a:blipFill>
          <a:ln>
            <a:noFill/>
          </a:ln>
        </p:spPr>
      </p:sp>
      <p:sp>
        <p:nvSpPr>
          <p:cNvPr id="157" name="Google Shape;157;p16"/>
          <p:cNvSpPr/>
          <p:nvPr/>
        </p:nvSpPr>
        <p:spPr>
          <a:xfrm rot="-5103875">
            <a:off x="17266003" y="-83624"/>
            <a:ext cx="2827990" cy="4114800"/>
          </a:xfrm>
          <a:custGeom>
            <a:avLst/>
            <a:gdLst/>
            <a:ahLst/>
            <a:cxnLst/>
            <a:rect l="l" t="t" r="r" b="b"/>
            <a:pathLst>
              <a:path w="2827990" h="4114800" extrusionOk="0">
                <a:moveTo>
                  <a:pt x="0" y="0"/>
                </a:moveTo>
                <a:lnTo>
                  <a:pt x="2827990" y="0"/>
                </a:lnTo>
                <a:lnTo>
                  <a:pt x="2827990" y="4114800"/>
                </a:lnTo>
                <a:lnTo>
                  <a:pt x="0" y="4114800"/>
                </a:lnTo>
                <a:lnTo>
                  <a:pt x="0" y="0"/>
                </a:lnTo>
                <a:close/>
              </a:path>
            </a:pathLst>
          </a:custGeom>
          <a:blipFill rotWithShape="1">
            <a:blip r:embed="rId5">
              <a:alphaModFix/>
            </a:blip>
            <a:stretch>
              <a:fillRect/>
            </a:stretch>
          </a:blipFill>
          <a:ln>
            <a:noFill/>
          </a:ln>
        </p:spPr>
      </p:sp>
      <p:sp>
        <p:nvSpPr>
          <p:cNvPr id="158" name="Google Shape;158;p16"/>
          <p:cNvSpPr/>
          <p:nvPr/>
        </p:nvSpPr>
        <p:spPr>
          <a:xfrm rot="746573">
            <a:off x="-1755470" y="3799"/>
            <a:ext cx="2827990" cy="4114800"/>
          </a:xfrm>
          <a:custGeom>
            <a:avLst/>
            <a:gdLst/>
            <a:ahLst/>
            <a:cxnLst/>
            <a:rect l="l" t="t" r="r" b="b"/>
            <a:pathLst>
              <a:path w="2827990" h="4114800" extrusionOk="0">
                <a:moveTo>
                  <a:pt x="0" y="0"/>
                </a:moveTo>
                <a:lnTo>
                  <a:pt x="2827990" y="0"/>
                </a:lnTo>
                <a:lnTo>
                  <a:pt x="2827990" y="4114800"/>
                </a:lnTo>
                <a:lnTo>
                  <a:pt x="0" y="4114800"/>
                </a:lnTo>
                <a:lnTo>
                  <a:pt x="0" y="0"/>
                </a:lnTo>
                <a:close/>
              </a:path>
            </a:pathLst>
          </a:custGeom>
          <a:blipFill rotWithShape="1">
            <a:blip r:embed="rId5">
              <a:alphaModFix/>
            </a:blip>
            <a:stretch>
              <a:fillRect/>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147"/>
        <p:cNvGrpSpPr/>
        <p:nvPr/>
      </p:nvGrpSpPr>
      <p:grpSpPr>
        <a:xfrm>
          <a:off x="0" y="0"/>
          <a:ext cx="0" cy="0"/>
          <a:chOff x="0" y="0"/>
          <a:chExt cx="0" cy="0"/>
        </a:xfrm>
      </p:grpSpPr>
      <p:sp>
        <p:nvSpPr>
          <p:cNvPr id="151" name="Google Shape;151;p16"/>
          <p:cNvSpPr txBox="1"/>
          <p:nvPr/>
        </p:nvSpPr>
        <p:spPr>
          <a:xfrm>
            <a:off x="4424516" y="1308412"/>
            <a:ext cx="7470331" cy="4255647"/>
          </a:xfrm>
          <a:prstGeom prst="rect">
            <a:avLst/>
          </a:prstGeom>
          <a:noFill/>
          <a:ln>
            <a:noFill/>
          </a:ln>
        </p:spPr>
        <p:txBody>
          <a:bodyPr spcFirstLastPara="1" wrap="square" lIns="50800" tIns="50800" rIns="50800" bIns="50800" anchor="ctr" anchorCtr="0">
            <a:noAutofit/>
          </a:bodyPr>
          <a:lstStyle/>
          <a:p>
            <a:pPr marL="0" marR="0" lvl="0" indent="0" algn="ctr" rtl="0">
              <a:lnSpc>
                <a:spcPct val="178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6"/>
          <p:cNvSpPr txBox="1"/>
          <p:nvPr/>
        </p:nvSpPr>
        <p:spPr>
          <a:xfrm>
            <a:off x="7378047" y="1779564"/>
            <a:ext cx="4516800" cy="884700"/>
          </a:xfrm>
          <a:prstGeom prst="rect">
            <a:avLst/>
          </a:prstGeom>
          <a:noFill/>
          <a:ln>
            <a:noFill/>
          </a:ln>
        </p:spPr>
        <p:txBody>
          <a:bodyPr spcFirstLastPara="1" wrap="square" lIns="0" tIns="0" rIns="0" bIns="0" anchor="t" anchorCtr="0">
            <a:spAutoFit/>
          </a:bodyPr>
          <a:lstStyle/>
          <a:p>
            <a:r>
              <a:t> Qishloq xo‘jaligi O‘zbekistonda  </a:t>
            </a:r>
          </a:p>
          <a:p/>
          <a:p>
            <a:r>
              <a:t>O‘zbekiston qishloq xo‘jaligida paxta, g‘alla, meva va sabzavot yetishtirish muhim o‘rin tutadi. Iqlim sharoiti va unumdor yerlar qishloq xo‘jaligini rivojlantirishga yordam beradi. Suv resurslaridan samarali foydalanish va zamonaviy texnologiyalarni joriy etish hosildorlikni oshirish uchun zarur.  </a:t>
            </a:r>
          </a:p>
          <a:p/>
          <a:p>
            <a:r>
              <a:t>Bu soha iqtisodiyot va aholining ozigini ta’minlashda asosiy rol o‘ynaydi.</a:t>
            </a:r>
          </a:p>
        </p:txBody>
      </p:sp>
      <p:sp>
        <p:nvSpPr>
          <p:cNvPr id="154" name="Google Shape;154;p16"/>
          <p:cNvSpPr/>
          <p:nvPr/>
        </p:nvSpPr>
        <p:spPr>
          <a:xfrm>
            <a:off x="-1972570" y="5423109"/>
            <a:ext cx="3945140" cy="5022748"/>
          </a:xfrm>
          <a:custGeom>
            <a:avLst/>
            <a:gdLst/>
            <a:ahLst/>
            <a:cxnLst/>
            <a:rect l="l" t="t" r="r" b="b"/>
            <a:pathLst>
              <a:path w="3945140" h="5022748" extrusionOk="0">
                <a:moveTo>
                  <a:pt x="0" y="0"/>
                </a:moveTo>
                <a:lnTo>
                  <a:pt x="3945141" y="0"/>
                </a:lnTo>
                <a:lnTo>
                  <a:pt x="3945141" y="5022748"/>
                </a:lnTo>
                <a:lnTo>
                  <a:pt x="0" y="5022748"/>
                </a:lnTo>
                <a:lnTo>
                  <a:pt x="0" y="0"/>
                </a:lnTo>
                <a:close/>
              </a:path>
            </a:pathLst>
          </a:custGeom>
          <a:blipFill rotWithShape="1">
            <a:blip r:embed="rId3">
              <a:alphaModFix/>
            </a:blip>
            <a:stretch>
              <a:fillRect/>
            </a:stretch>
          </a:blipFill>
          <a:ln>
            <a:noFill/>
          </a:ln>
        </p:spPr>
      </p:sp>
      <p:sp>
        <p:nvSpPr>
          <p:cNvPr id="156" name="Google Shape;156;p16"/>
          <p:cNvSpPr/>
          <p:nvPr/>
        </p:nvSpPr>
        <p:spPr>
          <a:xfrm>
            <a:off x="14692556" y="6839743"/>
            <a:ext cx="5792954" cy="3606114"/>
          </a:xfrm>
          <a:custGeom>
            <a:avLst/>
            <a:gdLst/>
            <a:ahLst/>
            <a:cxnLst/>
            <a:rect l="l" t="t" r="r" b="b"/>
            <a:pathLst>
              <a:path w="5792954" h="3606114" extrusionOk="0">
                <a:moveTo>
                  <a:pt x="0" y="0"/>
                </a:moveTo>
                <a:lnTo>
                  <a:pt x="5792954" y="0"/>
                </a:lnTo>
                <a:lnTo>
                  <a:pt x="5792954" y="3606114"/>
                </a:lnTo>
                <a:lnTo>
                  <a:pt x="0" y="3606114"/>
                </a:lnTo>
                <a:lnTo>
                  <a:pt x="0" y="0"/>
                </a:lnTo>
                <a:close/>
              </a:path>
            </a:pathLst>
          </a:custGeom>
          <a:blipFill rotWithShape="1">
            <a:blip r:embed="rId4">
              <a:alphaModFix/>
            </a:blip>
            <a:stretch>
              <a:fillRect/>
            </a:stretch>
          </a:blipFill>
          <a:ln>
            <a:noFill/>
          </a:ln>
        </p:spPr>
      </p:sp>
      <p:sp>
        <p:nvSpPr>
          <p:cNvPr id="157" name="Google Shape;157;p16"/>
          <p:cNvSpPr/>
          <p:nvPr/>
        </p:nvSpPr>
        <p:spPr>
          <a:xfrm rot="16200000">
            <a:off x="16703671" y="-645956"/>
            <a:ext cx="2960068" cy="5107386"/>
          </a:xfrm>
          <a:custGeom>
            <a:avLst/>
            <a:gdLst/>
            <a:ahLst/>
            <a:cxnLst/>
            <a:rect l="l" t="t" r="r" b="b"/>
            <a:pathLst>
              <a:path w="2827990" h="4114800" extrusionOk="0">
                <a:moveTo>
                  <a:pt x="0" y="0"/>
                </a:moveTo>
                <a:lnTo>
                  <a:pt x="2827990" y="0"/>
                </a:lnTo>
                <a:lnTo>
                  <a:pt x="2827990" y="4114800"/>
                </a:lnTo>
                <a:lnTo>
                  <a:pt x="0" y="4114800"/>
                </a:lnTo>
                <a:lnTo>
                  <a:pt x="0" y="0"/>
                </a:lnTo>
                <a:close/>
              </a:path>
            </a:pathLst>
          </a:custGeom>
          <a:blipFill rotWithShape="1">
            <a:blip r:embed="rId5">
              <a:alphaModFix/>
            </a:blip>
            <a:stretch>
              <a:fillRect/>
            </a:stretch>
          </a:blipFill>
          <a:ln>
            <a:noFill/>
          </a:ln>
        </p:spPr>
      </p:sp>
      <p:sp>
        <p:nvSpPr>
          <p:cNvPr id="158" name="Google Shape;158;p16"/>
          <p:cNvSpPr/>
          <p:nvPr/>
        </p:nvSpPr>
        <p:spPr>
          <a:xfrm rot="746573">
            <a:off x="-1662385" y="-850096"/>
            <a:ext cx="5400861" cy="5259320"/>
          </a:xfrm>
          <a:custGeom>
            <a:avLst/>
            <a:gdLst/>
            <a:ahLst/>
            <a:cxnLst/>
            <a:rect l="l" t="t" r="r" b="b"/>
            <a:pathLst>
              <a:path w="2827990" h="4114800" extrusionOk="0">
                <a:moveTo>
                  <a:pt x="0" y="0"/>
                </a:moveTo>
                <a:lnTo>
                  <a:pt x="2827990" y="0"/>
                </a:lnTo>
                <a:lnTo>
                  <a:pt x="2827990" y="4114800"/>
                </a:lnTo>
                <a:lnTo>
                  <a:pt x="0" y="4114800"/>
                </a:lnTo>
                <a:lnTo>
                  <a:pt x="0" y="0"/>
                </a:lnTo>
                <a:close/>
              </a:path>
            </a:pathLst>
          </a:custGeom>
          <a:blipFill rotWithShape="1">
            <a:blip r:embed="rId5">
              <a:alphaModFix/>
            </a:blip>
            <a:stretch>
              <a:fillRect/>
            </a:stretch>
          </a:blipFill>
          <a:ln>
            <a:noFill/>
          </a:ln>
        </p:spPr>
      </p:sp>
    </p:spTree>
    <p:extLst>
      <p:ext uri="{BB962C8B-B14F-4D97-AF65-F5344CB8AC3E}">
        <p14:creationId xmlns:p14="http://schemas.microsoft.com/office/powerpoint/2010/main" val="792115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163"/>
        <p:cNvGrpSpPr/>
        <p:nvPr/>
      </p:nvGrpSpPr>
      <p:grpSpPr>
        <a:xfrm>
          <a:off x="0" y="0"/>
          <a:ext cx="0" cy="0"/>
          <a:chOff x="0" y="0"/>
          <a:chExt cx="0" cy="0"/>
        </a:xfrm>
      </p:grpSpPr>
      <p:sp>
        <p:nvSpPr>
          <p:cNvPr id="166" name="Google Shape;166;p17"/>
          <p:cNvSpPr txBox="1"/>
          <p:nvPr/>
        </p:nvSpPr>
        <p:spPr>
          <a:xfrm>
            <a:off x="1028700" y="1146859"/>
            <a:ext cx="16230600" cy="960755"/>
          </a:xfrm>
          <a:prstGeom prst="rect">
            <a:avLst/>
          </a:prstGeom>
          <a:noFill/>
          <a:ln>
            <a:noFill/>
          </a:ln>
        </p:spPr>
        <p:txBody>
          <a:bodyPr spcFirstLastPara="1" wrap="square" lIns="0" tIns="0" rIns="0" bIns="0" anchor="t" anchorCtr="0">
            <a:spAutoFit/>
          </a:bodyPr>
          <a:lstStyle/>
          <a:p>
            <a:r>
              <a:t>Bug‘doy, paxta, mevasabzavot yetishtirish.</a:t>
            </a:r>
          </a:p>
        </p:txBody>
      </p:sp>
      <p:sp>
        <p:nvSpPr>
          <p:cNvPr id="170" name="Google Shape;170;p17"/>
          <p:cNvSpPr/>
          <p:nvPr/>
        </p:nvSpPr>
        <p:spPr>
          <a:xfrm>
            <a:off x="15689111" y="637926"/>
            <a:ext cx="3140378" cy="2186488"/>
          </a:xfrm>
          <a:custGeom>
            <a:avLst/>
            <a:gdLst/>
            <a:ahLst/>
            <a:cxnLst/>
            <a:rect l="l" t="t" r="r" b="b"/>
            <a:pathLst>
              <a:path w="3140378" h="2186488" extrusionOk="0">
                <a:moveTo>
                  <a:pt x="0" y="0"/>
                </a:moveTo>
                <a:lnTo>
                  <a:pt x="3140378" y="0"/>
                </a:lnTo>
                <a:lnTo>
                  <a:pt x="3140378" y="2186488"/>
                </a:lnTo>
                <a:lnTo>
                  <a:pt x="0" y="2186488"/>
                </a:lnTo>
                <a:lnTo>
                  <a:pt x="0" y="0"/>
                </a:lnTo>
                <a:close/>
              </a:path>
            </a:pathLst>
          </a:custGeom>
          <a:blipFill rotWithShape="1">
            <a:blip r:embed="rId3">
              <a:alphaModFix/>
            </a:blip>
            <a:stretch>
              <a:fillRect/>
            </a:stretch>
          </a:blipFill>
          <a:ln>
            <a:noFill/>
          </a:ln>
        </p:spPr>
      </p:sp>
      <p:sp>
        <p:nvSpPr>
          <p:cNvPr id="176" name="Google Shape;176;p17"/>
          <p:cNvSpPr txBox="1"/>
          <p:nvPr/>
        </p:nvSpPr>
        <p:spPr>
          <a:xfrm>
            <a:off x="2283958" y="3031087"/>
            <a:ext cx="2429727" cy="428625"/>
          </a:xfrm>
          <a:prstGeom prst="rect">
            <a:avLst/>
          </a:prstGeom>
          <a:noFill/>
          <a:ln>
            <a:noFill/>
          </a:ln>
        </p:spPr>
        <p:txBody>
          <a:bodyPr spcFirstLastPara="1" wrap="square" lIns="0" tIns="0" rIns="0" bIns="0" anchor="t" anchorCtr="0">
            <a:spAutoFit/>
          </a:bodyPr>
          <a:lstStyle/>
          <a:p>
            <a:r>
              <a:t>Qishloq xo‘jaligi O‘zbekistonda  </a:t>
            </a:r>
          </a:p>
          <a:p/>
          <a:p>
            <a:r>
              <a:t>O‘zbekiston qishloq xo‘jaligi iqlimi, suv resurslari va unumdor yerlari tufayli rivojlangan. Asosiy ekinlar—paxta, bug‘doy, meva va sabzavotlar.  </a:t>
            </a:r>
          </a:p>
          <a:p/>
          <a:p>
            <a:r>
              <a:t>Suv ta’minoti va zamonaviy texnologiyalarni joriy etish mahsuldorlikni oshirish uchun muhimdir. Qishloq xo‘jaligi iqtisodiyotda muhim o‘rin egallaydi va ish bilan ta’minlashda katta rol o‘ynaydi.</a:t>
            </a:r>
          </a:p>
        </p:txBody>
      </p:sp>
      <p:sp>
        <p:nvSpPr>
          <p:cNvPr id="181" name="Google Shape;181;p17"/>
          <p:cNvSpPr/>
          <p:nvPr/>
        </p:nvSpPr>
        <p:spPr>
          <a:xfrm rot="659591">
            <a:off x="16568820" y="3951261"/>
            <a:ext cx="1815871" cy="6569148"/>
          </a:xfrm>
          <a:custGeom>
            <a:avLst/>
            <a:gdLst/>
            <a:ahLst/>
            <a:cxnLst/>
            <a:rect l="l" t="t" r="r" b="b"/>
            <a:pathLst>
              <a:path w="1285869" h="5893567" extrusionOk="0">
                <a:moveTo>
                  <a:pt x="0" y="0"/>
                </a:moveTo>
                <a:lnTo>
                  <a:pt x="1285869" y="0"/>
                </a:lnTo>
                <a:lnTo>
                  <a:pt x="1285869" y="5893567"/>
                </a:lnTo>
                <a:lnTo>
                  <a:pt x="0" y="5893567"/>
                </a:lnTo>
                <a:lnTo>
                  <a:pt x="0" y="0"/>
                </a:lnTo>
                <a:close/>
              </a:path>
            </a:pathLst>
          </a:custGeom>
          <a:blipFill rotWithShape="1">
            <a:blip r:embed="rId4">
              <a:alphaModFix/>
            </a:blip>
            <a:stretch>
              <a:fillRect/>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187"/>
        <p:cNvGrpSpPr/>
        <p:nvPr/>
      </p:nvGrpSpPr>
      <p:grpSpPr>
        <a:xfrm>
          <a:off x="0" y="0"/>
          <a:ext cx="0" cy="0"/>
          <a:chOff x="0" y="0"/>
          <a:chExt cx="0" cy="0"/>
        </a:xfrm>
      </p:grpSpPr>
      <p:grpSp>
        <p:nvGrpSpPr>
          <p:cNvPr id="188" name="Google Shape;188;p18"/>
          <p:cNvGrpSpPr/>
          <p:nvPr/>
        </p:nvGrpSpPr>
        <p:grpSpPr>
          <a:xfrm>
            <a:off x="-282472" y="4459011"/>
            <a:ext cx="18852948" cy="6268860"/>
            <a:chOff x="0" y="-57150"/>
            <a:chExt cx="4965385" cy="1651058"/>
          </a:xfrm>
        </p:grpSpPr>
        <p:sp>
          <p:nvSpPr>
            <p:cNvPr id="189" name="Google Shape;189;p18"/>
            <p:cNvSpPr/>
            <p:nvPr/>
          </p:nvSpPr>
          <p:spPr>
            <a:xfrm>
              <a:off x="0" y="0"/>
              <a:ext cx="4965385" cy="1593908"/>
            </a:xfrm>
            <a:custGeom>
              <a:avLst/>
              <a:gdLst/>
              <a:ahLst/>
              <a:cxnLst/>
              <a:rect l="l" t="t" r="r" b="b"/>
              <a:pathLst>
                <a:path w="4965385" h="1593908" extrusionOk="0">
                  <a:moveTo>
                    <a:pt x="0" y="0"/>
                  </a:moveTo>
                  <a:lnTo>
                    <a:pt x="4965385" y="0"/>
                  </a:lnTo>
                  <a:lnTo>
                    <a:pt x="4965385" y="1593908"/>
                  </a:lnTo>
                  <a:lnTo>
                    <a:pt x="0" y="1593908"/>
                  </a:lnTo>
                  <a:close/>
                </a:path>
              </a:pathLst>
            </a:custGeom>
            <a:solidFill>
              <a:srgbClr val="9DBDBA"/>
            </a:solidFill>
            <a:ln>
              <a:noFill/>
            </a:ln>
          </p:spPr>
        </p:sp>
        <p:sp>
          <p:nvSpPr>
            <p:cNvPr id="190" name="Google Shape;190;p18"/>
            <p:cNvSpPr txBox="1"/>
            <p:nvPr/>
          </p:nvSpPr>
          <p:spPr>
            <a:xfrm>
              <a:off x="0" y="-57150"/>
              <a:ext cx="812800" cy="869950"/>
            </a:xfrm>
            <a:prstGeom prst="rect">
              <a:avLst/>
            </a:prstGeom>
            <a:noFill/>
            <a:ln>
              <a:noFill/>
            </a:ln>
          </p:spPr>
          <p:txBody>
            <a:bodyPr spcFirstLastPara="1" wrap="square" lIns="50800" tIns="50800" rIns="50800" bIns="50800" anchor="ctr" anchorCtr="0">
              <a:noAutofit/>
            </a:bodyPr>
            <a:lstStyle/>
            <a:p>
              <a:pPr marL="0" marR="0" lvl="0" indent="0" algn="ctr" rtl="0">
                <a:lnSpc>
                  <a:spcPct val="178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1" name="Google Shape;191;p18"/>
          <p:cNvSpPr txBox="1"/>
          <p:nvPr/>
        </p:nvSpPr>
        <p:spPr>
          <a:xfrm>
            <a:off x="6308254" y="1987032"/>
            <a:ext cx="9002700" cy="2316600"/>
          </a:xfrm>
          <a:prstGeom prst="rect">
            <a:avLst/>
          </a:prstGeom>
          <a:noFill/>
          <a:ln>
            <a:noFill/>
          </a:ln>
        </p:spPr>
        <p:txBody>
          <a:bodyPr spcFirstLastPara="1" wrap="square" lIns="0" tIns="0" rIns="0" bIns="0" anchor="t" anchorCtr="0">
            <a:spAutoFit/>
          </a:bodyPr>
          <a:lstStyle/>
          <a:p>
            <a:r>
              <a:t>Qishloq xo‘jaligi O‘zbekistonda  </a:t>
            </a:r>
          </a:p>
          <a:p/>
          <a:p>
            <a:r>
              <a:t>O‘zbekiston qishloq xo‘jaligida paxta, g‘alla, meva va sabzavot yetishtirish yetakchi o‘rinda. Iqlim sharoiti va unumdor yerlar qishloq xo‘jaligini rivojlantirishga imkon beradi. Suv resurslaridan samarali foydalanish va zamonaviy texnologiyalarni joriy etish hosildorlikni oshirish uchun muhim ahamiyatga ega. Qishloq xo‘jaligi iqtisodiyotning asosiy tarmog‘i bo‘lib, aholining katta qismi uchun daromad manbai hisoblanadi.</a:t>
            </a:r>
          </a:p>
        </p:txBody>
      </p:sp>
      <p:sp>
        <p:nvSpPr>
          <p:cNvPr id="192" name="Google Shape;192;p18"/>
          <p:cNvSpPr/>
          <p:nvPr/>
        </p:nvSpPr>
        <p:spPr>
          <a:xfrm>
            <a:off x="0" y="7008239"/>
            <a:ext cx="3568735" cy="3541970"/>
          </a:xfrm>
          <a:custGeom>
            <a:avLst/>
            <a:gdLst/>
            <a:ahLst/>
            <a:cxnLst/>
            <a:rect l="l" t="t" r="r" b="b"/>
            <a:pathLst>
              <a:path w="3568735" h="3541970" extrusionOk="0">
                <a:moveTo>
                  <a:pt x="0" y="0"/>
                </a:moveTo>
                <a:lnTo>
                  <a:pt x="3568735" y="0"/>
                </a:lnTo>
                <a:lnTo>
                  <a:pt x="3568735" y="3541969"/>
                </a:lnTo>
                <a:lnTo>
                  <a:pt x="0" y="3541969"/>
                </a:lnTo>
                <a:lnTo>
                  <a:pt x="0" y="0"/>
                </a:lnTo>
                <a:close/>
              </a:path>
            </a:pathLst>
          </a:custGeom>
          <a:blipFill rotWithShape="1">
            <a:blip r:embed="rId3">
              <a:alphaModFix/>
            </a:blip>
            <a:stretch>
              <a:fillRect/>
            </a:stretch>
          </a:blipFill>
          <a:ln>
            <a:noFill/>
          </a:ln>
        </p:spPr>
      </p:sp>
      <p:sp>
        <p:nvSpPr>
          <p:cNvPr id="193" name="Google Shape;193;p18"/>
          <p:cNvSpPr/>
          <p:nvPr/>
        </p:nvSpPr>
        <p:spPr>
          <a:xfrm>
            <a:off x="3471047" y="7588051"/>
            <a:ext cx="2471355" cy="2836563"/>
          </a:xfrm>
          <a:custGeom>
            <a:avLst/>
            <a:gdLst/>
            <a:ahLst/>
            <a:cxnLst/>
            <a:rect l="l" t="t" r="r" b="b"/>
            <a:pathLst>
              <a:path w="2471355" h="2836563" extrusionOk="0">
                <a:moveTo>
                  <a:pt x="0" y="0"/>
                </a:moveTo>
                <a:lnTo>
                  <a:pt x="2471355" y="0"/>
                </a:lnTo>
                <a:lnTo>
                  <a:pt x="2471355" y="2836563"/>
                </a:lnTo>
                <a:lnTo>
                  <a:pt x="0" y="2836563"/>
                </a:lnTo>
                <a:lnTo>
                  <a:pt x="0" y="0"/>
                </a:lnTo>
                <a:close/>
              </a:path>
            </a:pathLst>
          </a:custGeom>
          <a:blipFill rotWithShape="1">
            <a:blip r:embed="rId4">
              <a:alphaModFix/>
            </a:blip>
            <a:stretch>
              <a:fillRect/>
            </a:stretch>
          </a:blipFill>
          <a:ln>
            <a:noFill/>
          </a:ln>
        </p:spPr>
      </p:sp>
      <p:sp>
        <p:nvSpPr>
          <p:cNvPr id="194" name="Google Shape;194;p18"/>
          <p:cNvSpPr/>
          <p:nvPr/>
        </p:nvSpPr>
        <p:spPr>
          <a:xfrm>
            <a:off x="5299681" y="-1286561"/>
            <a:ext cx="4421042" cy="2984204"/>
          </a:xfrm>
          <a:custGeom>
            <a:avLst/>
            <a:gdLst/>
            <a:ahLst/>
            <a:cxnLst/>
            <a:rect l="l" t="t" r="r" b="b"/>
            <a:pathLst>
              <a:path w="4421042" h="2984204" extrusionOk="0">
                <a:moveTo>
                  <a:pt x="0" y="0"/>
                </a:moveTo>
                <a:lnTo>
                  <a:pt x="4421043" y="0"/>
                </a:lnTo>
                <a:lnTo>
                  <a:pt x="4421043" y="2984204"/>
                </a:lnTo>
                <a:lnTo>
                  <a:pt x="0" y="2984204"/>
                </a:lnTo>
                <a:lnTo>
                  <a:pt x="0" y="0"/>
                </a:lnTo>
                <a:close/>
              </a:path>
            </a:pathLst>
          </a:custGeom>
          <a:blipFill rotWithShape="1">
            <a:blip r:embed="rId5">
              <a:alphaModFix/>
            </a:blip>
            <a:stretch>
              <a:fillRect/>
            </a:stretch>
          </a:blipFill>
          <a:ln>
            <a:noFill/>
          </a:ln>
        </p:spPr>
      </p:sp>
      <p:sp>
        <p:nvSpPr>
          <p:cNvPr id="195" name="Google Shape;195;p18"/>
          <p:cNvSpPr/>
          <p:nvPr/>
        </p:nvSpPr>
        <p:spPr>
          <a:xfrm flipH="1">
            <a:off x="14676497" y="7491201"/>
            <a:ext cx="5982014" cy="3185423"/>
          </a:xfrm>
          <a:custGeom>
            <a:avLst/>
            <a:gdLst/>
            <a:ahLst/>
            <a:cxnLst/>
            <a:rect l="l" t="t" r="r" b="b"/>
            <a:pathLst>
              <a:path w="5982014" h="3185423" extrusionOk="0">
                <a:moveTo>
                  <a:pt x="5982014" y="0"/>
                </a:moveTo>
                <a:lnTo>
                  <a:pt x="0" y="0"/>
                </a:lnTo>
                <a:lnTo>
                  <a:pt x="0" y="3185423"/>
                </a:lnTo>
                <a:lnTo>
                  <a:pt x="5982014" y="3185423"/>
                </a:lnTo>
                <a:lnTo>
                  <a:pt x="5982014" y="0"/>
                </a:lnTo>
                <a:close/>
              </a:path>
            </a:pathLst>
          </a:custGeom>
          <a:blipFill rotWithShape="1">
            <a:blip r:embed="rId6">
              <a:alphaModFix/>
            </a:blip>
            <a:stretch>
              <a:fillRect/>
            </a:stretch>
          </a:blipFill>
          <a:ln>
            <a:noFill/>
          </a:ln>
        </p:spPr>
      </p:sp>
      <p:sp>
        <p:nvSpPr>
          <p:cNvPr id="196" name="Google Shape;196;p18"/>
          <p:cNvSpPr/>
          <p:nvPr/>
        </p:nvSpPr>
        <p:spPr>
          <a:xfrm>
            <a:off x="-559389" y="650913"/>
            <a:ext cx="6363639" cy="2476034"/>
          </a:xfrm>
          <a:custGeom>
            <a:avLst/>
            <a:gdLst/>
            <a:ahLst/>
            <a:cxnLst/>
            <a:rect l="l" t="t" r="r" b="b"/>
            <a:pathLst>
              <a:path w="6363639" h="2476034" extrusionOk="0">
                <a:moveTo>
                  <a:pt x="0" y="0"/>
                </a:moveTo>
                <a:lnTo>
                  <a:pt x="6363639" y="0"/>
                </a:lnTo>
                <a:lnTo>
                  <a:pt x="6363639" y="2476034"/>
                </a:lnTo>
                <a:lnTo>
                  <a:pt x="0" y="2476034"/>
                </a:lnTo>
                <a:lnTo>
                  <a:pt x="0" y="0"/>
                </a:lnTo>
                <a:close/>
              </a:path>
            </a:pathLst>
          </a:custGeom>
          <a:blipFill rotWithShape="1">
            <a:blip r:embed="rId7">
              <a:alphaModFix/>
            </a:blip>
            <a:stretch>
              <a:fillRect/>
            </a:stretch>
          </a:blipFill>
          <a:ln>
            <a:noFill/>
          </a:ln>
        </p:spPr>
      </p:sp>
      <p:sp>
        <p:nvSpPr>
          <p:cNvPr id="197" name="Google Shape;197;p18"/>
          <p:cNvSpPr/>
          <p:nvPr/>
        </p:nvSpPr>
        <p:spPr>
          <a:xfrm>
            <a:off x="-559389" y="2716120"/>
            <a:ext cx="2846019" cy="3285448"/>
          </a:xfrm>
          <a:custGeom>
            <a:avLst/>
            <a:gdLst/>
            <a:ahLst/>
            <a:cxnLst/>
            <a:rect l="l" t="t" r="r" b="b"/>
            <a:pathLst>
              <a:path w="2846019" h="3285448" extrusionOk="0">
                <a:moveTo>
                  <a:pt x="0" y="0"/>
                </a:moveTo>
                <a:lnTo>
                  <a:pt x="2846019" y="0"/>
                </a:lnTo>
                <a:lnTo>
                  <a:pt x="2846019" y="3285448"/>
                </a:lnTo>
                <a:lnTo>
                  <a:pt x="0" y="3285448"/>
                </a:lnTo>
                <a:lnTo>
                  <a:pt x="0" y="0"/>
                </a:lnTo>
                <a:close/>
              </a:path>
            </a:pathLst>
          </a:custGeom>
          <a:blipFill rotWithShape="1">
            <a:blip r:embed="rId8">
              <a:alphaModFix/>
            </a:blip>
            <a:stretch>
              <a:fillRect/>
            </a:stretch>
          </a:blipFill>
          <a:ln>
            <a:noFill/>
          </a:ln>
        </p:spPr>
      </p:sp>
      <p:sp>
        <p:nvSpPr>
          <p:cNvPr id="199" name="Google Shape;199;p18"/>
          <p:cNvSpPr/>
          <p:nvPr/>
        </p:nvSpPr>
        <p:spPr>
          <a:xfrm>
            <a:off x="-278927" y="5888306"/>
            <a:ext cx="1965407" cy="1650942"/>
          </a:xfrm>
          <a:custGeom>
            <a:avLst/>
            <a:gdLst/>
            <a:ahLst/>
            <a:cxnLst/>
            <a:rect l="l" t="t" r="r" b="b"/>
            <a:pathLst>
              <a:path w="1965407" h="1650942" extrusionOk="0">
                <a:moveTo>
                  <a:pt x="0" y="0"/>
                </a:moveTo>
                <a:lnTo>
                  <a:pt x="1965407" y="0"/>
                </a:lnTo>
                <a:lnTo>
                  <a:pt x="1965407" y="1650942"/>
                </a:lnTo>
                <a:lnTo>
                  <a:pt x="0" y="1650942"/>
                </a:lnTo>
                <a:lnTo>
                  <a:pt x="0" y="0"/>
                </a:lnTo>
                <a:close/>
              </a:path>
            </a:pathLst>
          </a:custGeom>
          <a:blipFill rotWithShape="1">
            <a:blip r:embed="rId9">
              <a:alphaModFix/>
            </a:blip>
            <a:stretch>
              <a:fillRect/>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204"/>
        <p:cNvGrpSpPr/>
        <p:nvPr/>
      </p:nvGrpSpPr>
      <p:grpSpPr>
        <a:xfrm>
          <a:off x="0" y="0"/>
          <a:ext cx="0" cy="0"/>
          <a:chOff x="0" y="0"/>
          <a:chExt cx="0" cy="0"/>
        </a:xfrm>
      </p:grpSpPr>
      <p:sp>
        <p:nvSpPr>
          <p:cNvPr id="219" name="Google Shape;219;p19"/>
          <p:cNvSpPr/>
          <p:nvPr/>
        </p:nvSpPr>
        <p:spPr>
          <a:xfrm>
            <a:off x="12980021" y="5815039"/>
            <a:ext cx="4894423" cy="4741472"/>
          </a:xfrm>
          <a:custGeom>
            <a:avLst/>
            <a:gdLst/>
            <a:ahLst/>
            <a:cxnLst/>
            <a:rect l="l" t="t" r="r" b="b"/>
            <a:pathLst>
              <a:path w="4894423" h="4741472" extrusionOk="0">
                <a:moveTo>
                  <a:pt x="0" y="0"/>
                </a:moveTo>
                <a:lnTo>
                  <a:pt x="4894423" y="0"/>
                </a:lnTo>
                <a:lnTo>
                  <a:pt x="4894423" y="4741473"/>
                </a:lnTo>
                <a:lnTo>
                  <a:pt x="0" y="4741473"/>
                </a:lnTo>
                <a:lnTo>
                  <a:pt x="0" y="0"/>
                </a:lnTo>
                <a:close/>
              </a:path>
            </a:pathLst>
          </a:custGeom>
          <a:blipFill rotWithShape="1">
            <a:blip r:embed="rId3">
              <a:alphaModFix/>
            </a:blip>
            <a:stretch>
              <a:fillRect/>
            </a:stretch>
          </a:blipFill>
          <a:ln>
            <a:noFill/>
          </a:ln>
        </p:spPr>
      </p:sp>
      <p:sp>
        <p:nvSpPr>
          <p:cNvPr id="220" name="Google Shape;220;p19"/>
          <p:cNvSpPr txBox="1"/>
          <p:nvPr/>
        </p:nvSpPr>
        <p:spPr>
          <a:xfrm>
            <a:off x="795022" y="760413"/>
            <a:ext cx="8211180" cy="1098550"/>
          </a:xfrm>
          <a:prstGeom prst="rect">
            <a:avLst/>
          </a:prstGeom>
          <a:noFill/>
          <a:ln>
            <a:noFill/>
          </a:ln>
        </p:spPr>
        <p:txBody>
          <a:bodyPr spcFirstLastPara="1" wrap="square" lIns="0" tIns="0" rIns="0" bIns="0" anchor="t" anchorCtr="0">
            <a:spAutoFit/>
          </a:bodyPr>
          <a:lstStyle/>
          <a:p>
            <a:r>
              <a:t>Chorvachilik va ipakchilikning ahamiyati.</a:t>
            </a:r>
          </a:p>
        </p:txBody>
      </p:sp>
      <p:sp>
        <p:nvSpPr>
          <p:cNvPr id="2" name="TextBox 1">
            <a:extLst>
              <a:ext uri="{FF2B5EF4-FFF2-40B4-BE49-F238E27FC236}">
                <a16:creationId xmlns:a16="http://schemas.microsoft.com/office/drawing/2014/main" id="{4C68C33E-DB19-476E-840E-0F799AC77DC2}"/>
              </a:ext>
            </a:extLst>
          </p:cNvPr>
          <p:cNvSpPr txBox="1"/>
          <p:nvPr/>
        </p:nvSpPr>
        <p:spPr>
          <a:xfrm>
            <a:off x="971550" y="2871788"/>
            <a:ext cx="10029825" cy="307777"/>
          </a:xfrm>
          <a:prstGeom prst="rect">
            <a:avLst/>
          </a:prstGeom>
          <a:noFill/>
        </p:spPr>
        <p:txBody>
          <a:bodyPr wrap="square" rtlCol="0">
            <a:spAutoFit/>
          </a:bodyPr>
          <a:lstStyle/>
          <a:p>
            <a:r>
              <a:t>Qishloq xo‘jaligi O‘zbekistonda  </a:t>
            </a:r>
          </a:p>
          <a:p/>
          <a:p>
            <a:r>
              <a:t>O‘zbekiston qishloq xo‘jaligi jihatdan boy mamlakat bo‘lib, asosan paxta, g‘alla, meva va sabzavot yetishtirish bilan shug‘ullanadi. Iqlimi va unumdor yerlar qishloq xo‘jaligini rivojlantiradi. Suv resurslaridan oqilona foydalanish va zamonaviy texnologiyalarni joriy etish mahsuldorlikni oshirish uchun muhimdir.  </a:t>
            </a:r>
          </a:p>
          <a:p/>
          <a:p>
            <a:r>
              <a:t>(PowerPoint slayd uchun mo‘ljallangan qisqa va aniq matn.)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231"/>
        <p:cNvGrpSpPr/>
        <p:nvPr/>
      </p:nvGrpSpPr>
      <p:grpSpPr>
        <a:xfrm>
          <a:off x="0" y="0"/>
          <a:ext cx="0" cy="0"/>
          <a:chOff x="0" y="0"/>
          <a:chExt cx="0" cy="0"/>
        </a:xfrm>
      </p:grpSpPr>
      <p:sp>
        <p:nvSpPr>
          <p:cNvPr id="233" name="Google Shape;233;p20"/>
          <p:cNvSpPr/>
          <p:nvPr/>
        </p:nvSpPr>
        <p:spPr>
          <a:xfrm rot="-1168893">
            <a:off x="-531920" y="7425729"/>
            <a:ext cx="2470573" cy="3371749"/>
          </a:xfrm>
          <a:custGeom>
            <a:avLst/>
            <a:gdLst/>
            <a:ahLst/>
            <a:cxnLst/>
            <a:rect l="l" t="t" r="r" b="b"/>
            <a:pathLst>
              <a:path w="2470573" h="3371749" extrusionOk="0">
                <a:moveTo>
                  <a:pt x="0" y="0"/>
                </a:moveTo>
                <a:lnTo>
                  <a:pt x="2470573" y="0"/>
                </a:lnTo>
                <a:lnTo>
                  <a:pt x="2470573" y="3371750"/>
                </a:lnTo>
                <a:lnTo>
                  <a:pt x="0" y="3371750"/>
                </a:lnTo>
                <a:lnTo>
                  <a:pt x="0" y="0"/>
                </a:lnTo>
                <a:close/>
              </a:path>
            </a:pathLst>
          </a:custGeom>
          <a:blipFill rotWithShape="1">
            <a:blip r:embed="rId3">
              <a:alphaModFix/>
            </a:blip>
            <a:stretch>
              <a:fillRect/>
            </a:stretch>
          </a:blipFill>
          <a:ln>
            <a:noFill/>
          </a:ln>
        </p:spPr>
      </p:sp>
      <p:sp>
        <p:nvSpPr>
          <p:cNvPr id="234" name="Google Shape;234;p20"/>
          <p:cNvSpPr/>
          <p:nvPr/>
        </p:nvSpPr>
        <p:spPr>
          <a:xfrm rot="1231551">
            <a:off x="16485760" y="6633204"/>
            <a:ext cx="1805052" cy="2203949"/>
          </a:xfrm>
          <a:custGeom>
            <a:avLst/>
            <a:gdLst/>
            <a:ahLst/>
            <a:cxnLst/>
            <a:rect l="l" t="t" r="r" b="b"/>
            <a:pathLst>
              <a:path w="2449561" h="3130429" extrusionOk="0">
                <a:moveTo>
                  <a:pt x="0" y="0"/>
                </a:moveTo>
                <a:lnTo>
                  <a:pt x="2449561" y="0"/>
                </a:lnTo>
                <a:lnTo>
                  <a:pt x="2449561" y="3130429"/>
                </a:lnTo>
                <a:lnTo>
                  <a:pt x="0" y="3130429"/>
                </a:lnTo>
                <a:lnTo>
                  <a:pt x="0" y="0"/>
                </a:lnTo>
                <a:close/>
              </a:path>
            </a:pathLst>
          </a:custGeom>
          <a:blipFill rotWithShape="1">
            <a:blip r:embed="rId4">
              <a:alphaModFix/>
            </a:blip>
            <a:stretch>
              <a:fillRect/>
            </a:stretch>
          </a:blipFill>
          <a:ln>
            <a:noFill/>
          </a:ln>
        </p:spPr>
      </p:sp>
      <p:sp>
        <p:nvSpPr>
          <p:cNvPr id="235" name="Google Shape;235;p20"/>
          <p:cNvSpPr/>
          <p:nvPr/>
        </p:nvSpPr>
        <p:spPr>
          <a:xfrm rot="2700000">
            <a:off x="589358" y="465733"/>
            <a:ext cx="1529955" cy="2300685"/>
          </a:xfrm>
          <a:custGeom>
            <a:avLst/>
            <a:gdLst/>
            <a:ahLst/>
            <a:cxnLst/>
            <a:rect l="l" t="t" r="r" b="b"/>
            <a:pathLst>
              <a:path w="1529955" h="2300685" extrusionOk="0">
                <a:moveTo>
                  <a:pt x="0" y="0"/>
                </a:moveTo>
                <a:lnTo>
                  <a:pt x="1529956" y="0"/>
                </a:lnTo>
                <a:lnTo>
                  <a:pt x="1529956" y="2300685"/>
                </a:lnTo>
                <a:lnTo>
                  <a:pt x="0" y="2300685"/>
                </a:lnTo>
                <a:lnTo>
                  <a:pt x="0" y="0"/>
                </a:lnTo>
                <a:close/>
              </a:path>
            </a:pathLst>
          </a:custGeom>
          <a:blipFill rotWithShape="1">
            <a:blip r:embed="rId5">
              <a:alphaModFix/>
            </a:blip>
            <a:stretch>
              <a:fillRect/>
            </a:stretch>
          </a:blipFill>
          <a:ln>
            <a:noFill/>
          </a:ln>
        </p:spPr>
        <p:txBody>
          <a:bodyPr/>
          <a:p>
            <a:r>
              <a:t>Qishloq xo‘jaligi O‘zbekistonda  </a:t>
            </a:r>
          </a:p>
          <a:p/>
          <a:p>
            <a:r>
              <a:t>O‘zbekiston qishloq xo‘jaligi tabiiy resurslarga boy, asosan paxta, g‘alla, meva va sabzavot yetishtirishga ixtisoslashgan. Iqlim sharoiti va sug‘oriladigan yerlari unumdor dehqonchilik uchun qulay. So‘nggi yillarda agrosanoat va eksportni rivojlantirishga qaratilgan islohotlar amalga oshirilmoqda. Qishloq xo‘jaligi iqtisodiyotda muhim o‘rin tutadi va aholining katta qismi uchun daromad manbai hisoblanadi.</a:t>
            </a:r>
          </a:p>
        </p:txBody>
      </p:sp>
      <p:sp>
        <p:nvSpPr>
          <p:cNvPr id="236" name="Google Shape;236;p20"/>
          <p:cNvSpPr/>
          <p:nvPr/>
        </p:nvSpPr>
        <p:spPr>
          <a:xfrm rot="-1095255">
            <a:off x="14843165" y="-994002"/>
            <a:ext cx="975994" cy="3280651"/>
          </a:xfrm>
          <a:custGeom>
            <a:avLst/>
            <a:gdLst/>
            <a:ahLst/>
            <a:cxnLst/>
            <a:rect l="l" t="t" r="r" b="b"/>
            <a:pathLst>
              <a:path w="975994" h="3280651" extrusionOk="0">
                <a:moveTo>
                  <a:pt x="0" y="0"/>
                </a:moveTo>
                <a:lnTo>
                  <a:pt x="975994" y="0"/>
                </a:lnTo>
                <a:lnTo>
                  <a:pt x="975994" y="3280651"/>
                </a:lnTo>
                <a:lnTo>
                  <a:pt x="0" y="3280651"/>
                </a:lnTo>
                <a:lnTo>
                  <a:pt x="0" y="0"/>
                </a:lnTo>
                <a:close/>
              </a:path>
            </a:pathLst>
          </a:custGeom>
          <a:blipFill rotWithShape="1">
            <a:blip r:embed="rId6">
              <a:alphaModFix/>
            </a:blip>
            <a:stretch>
              <a:fillRect/>
            </a:stretch>
          </a:blipFill>
          <a:ln>
            <a:noFill/>
          </a:ln>
        </p:spPr>
      </p:sp>
      <p:grpSp>
        <p:nvGrpSpPr>
          <p:cNvPr id="237" name="Google Shape;237;p20"/>
          <p:cNvGrpSpPr/>
          <p:nvPr/>
        </p:nvGrpSpPr>
        <p:grpSpPr>
          <a:xfrm>
            <a:off x="2694016" y="2025645"/>
            <a:ext cx="11659900" cy="6341943"/>
            <a:chOff x="0" y="-57150"/>
            <a:chExt cx="1137717" cy="1670306"/>
          </a:xfrm>
        </p:grpSpPr>
        <p:sp>
          <p:nvSpPr>
            <p:cNvPr id="238" name="Google Shape;238;p20"/>
            <p:cNvSpPr/>
            <p:nvPr/>
          </p:nvSpPr>
          <p:spPr>
            <a:xfrm>
              <a:off x="0" y="0"/>
              <a:ext cx="1137717" cy="1613156"/>
            </a:xfrm>
            <a:custGeom>
              <a:avLst/>
              <a:gdLst/>
              <a:ahLst/>
              <a:cxnLst/>
              <a:rect l="l" t="t" r="r" b="b"/>
              <a:pathLst>
                <a:path w="1137717" h="1613156" extrusionOk="0">
                  <a:moveTo>
                    <a:pt x="51974" y="0"/>
                  </a:moveTo>
                  <a:lnTo>
                    <a:pt x="1085743" y="0"/>
                  </a:lnTo>
                  <a:cubicBezTo>
                    <a:pt x="1114447" y="0"/>
                    <a:pt x="1137717" y="23270"/>
                    <a:pt x="1137717" y="51974"/>
                  </a:cubicBezTo>
                  <a:lnTo>
                    <a:pt x="1137717" y="1561182"/>
                  </a:lnTo>
                  <a:cubicBezTo>
                    <a:pt x="1137717" y="1589887"/>
                    <a:pt x="1114447" y="1613156"/>
                    <a:pt x="1085743" y="1613156"/>
                  </a:cubicBezTo>
                  <a:lnTo>
                    <a:pt x="51974" y="1613156"/>
                  </a:lnTo>
                  <a:cubicBezTo>
                    <a:pt x="23270" y="1613156"/>
                    <a:pt x="0" y="1589887"/>
                    <a:pt x="0" y="1561182"/>
                  </a:cubicBezTo>
                  <a:lnTo>
                    <a:pt x="0" y="51974"/>
                  </a:lnTo>
                  <a:cubicBezTo>
                    <a:pt x="0" y="23270"/>
                    <a:pt x="23270" y="0"/>
                    <a:pt x="51974" y="0"/>
                  </a:cubicBezTo>
                  <a:close/>
                </a:path>
              </a:pathLst>
            </a:custGeom>
            <a:solidFill>
              <a:srgbClr val="9D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0"/>
            <p:cNvSpPr txBox="1"/>
            <p:nvPr/>
          </p:nvSpPr>
          <p:spPr>
            <a:xfrm>
              <a:off x="0" y="-57150"/>
              <a:ext cx="1137717" cy="1670306"/>
            </a:xfrm>
            <a:prstGeom prst="rect">
              <a:avLst/>
            </a:prstGeom>
            <a:noFill/>
            <a:ln>
              <a:noFill/>
            </a:ln>
          </p:spPr>
          <p:txBody>
            <a:bodyPr spcFirstLastPara="1" wrap="square" lIns="50800" tIns="50800" rIns="50800" bIns="50800" anchor="ctr" anchorCtr="0">
              <a:noAutofit/>
            </a:bodyPr>
            <a:lstStyle/>
            <a:p>
              <a:pPr marL="0" marR="0" lvl="0" indent="0" algn="ctr" rtl="0">
                <a:lnSpc>
                  <a:spcPct val="178888"/>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252" name="Google Shape;252;p20"/>
          <p:cNvSpPr/>
          <p:nvPr/>
        </p:nvSpPr>
        <p:spPr>
          <a:xfrm rot="1206937">
            <a:off x="15456564" y="852388"/>
            <a:ext cx="1342362" cy="5113758"/>
          </a:xfrm>
          <a:custGeom>
            <a:avLst/>
            <a:gdLst/>
            <a:ahLst/>
            <a:cxnLst/>
            <a:rect l="l" t="t" r="r" b="b"/>
            <a:pathLst>
              <a:path w="1342362" h="5113758" extrusionOk="0">
                <a:moveTo>
                  <a:pt x="0" y="0"/>
                </a:moveTo>
                <a:lnTo>
                  <a:pt x="1342362" y="0"/>
                </a:lnTo>
                <a:lnTo>
                  <a:pt x="1342362" y="5113758"/>
                </a:lnTo>
                <a:lnTo>
                  <a:pt x="0" y="5113758"/>
                </a:lnTo>
                <a:lnTo>
                  <a:pt x="0" y="0"/>
                </a:lnTo>
                <a:close/>
              </a:path>
            </a:pathLst>
          </a:custGeom>
          <a:blipFill rotWithShape="1">
            <a:blip r:embed="rId7">
              <a:alphaModFix/>
            </a:blip>
            <a:stretch>
              <a:fillRect/>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261"/>
        <p:cNvGrpSpPr/>
        <p:nvPr/>
      </p:nvGrpSpPr>
      <p:grpSpPr>
        <a:xfrm>
          <a:off x="0" y="0"/>
          <a:ext cx="0" cy="0"/>
          <a:chOff x="0" y="0"/>
          <a:chExt cx="0" cy="0"/>
        </a:xfrm>
      </p:grpSpPr>
      <p:sp>
        <p:nvSpPr>
          <p:cNvPr id="267" name="Google Shape;267;p21"/>
          <p:cNvSpPr txBox="1"/>
          <p:nvPr/>
        </p:nvSpPr>
        <p:spPr>
          <a:xfrm>
            <a:off x="2954225" y="688804"/>
            <a:ext cx="6309300" cy="1131079"/>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7000" b="0" i="0" u="none" strike="noStrike" cap="none" dirty="0" err="1">
                <a:solidFill>
                  <a:srgbClr val="B84144"/>
                </a:solidFill>
                <a:latin typeface="Luckiest Guy"/>
                <a:ea typeface="Luckiest Guy"/>
                <a:cs typeface="Luckiest Guy"/>
                <a:sym typeface="Luckiest Guy"/>
              </a:rPr>
              <a:t>Xulosa</a:t>
            </a:r>
            <a:endParaRPr dirty="0"/>
          </a:p>
        </p:txBody>
      </p:sp>
      <p:sp>
        <p:nvSpPr>
          <p:cNvPr id="268" name="Google Shape;268;p21"/>
          <p:cNvSpPr/>
          <p:nvPr/>
        </p:nvSpPr>
        <p:spPr>
          <a:xfrm>
            <a:off x="-301737" y="8008461"/>
            <a:ext cx="2431196" cy="2057400"/>
          </a:xfrm>
          <a:custGeom>
            <a:avLst/>
            <a:gdLst/>
            <a:ahLst/>
            <a:cxnLst/>
            <a:rect l="l" t="t" r="r" b="b"/>
            <a:pathLst>
              <a:path w="2431196" h="2057400" extrusionOk="0">
                <a:moveTo>
                  <a:pt x="0" y="0"/>
                </a:moveTo>
                <a:lnTo>
                  <a:pt x="2431196" y="0"/>
                </a:lnTo>
                <a:lnTo>
                  <a:pt x="2431196" y="2057400"/>
                </a:lnTo>
                <a:lnTo>
                  <a:pt x="0" y="2057400"/>
                </a:lnTo>
                <a:lnTo>
                  <a:pt x="0" y="0"/>
                </a:lnTo>
                <a:close/>
              </a:path>
            </a:pathLst>
          </a:custGeom>
          <a:blipFill rotWithShape="1">
            <a:blip r:embed="rId3">
              <a:alphaModFix/>
            </a:blip>
            <a:stretch>
              <a:fillRect/>
            </a:stretch>
          </a:blipFill>
          <a:ln>
            <a:noFill/>
          </a:ln>
        </p:spPr>
      </p:sp>
      <p:sp>
        <p:nvSpPr>
          <p:cNvPr id="269" name="Google Shape;269;p21"/>
          <p:cNvSpPr/>
          <p:nvPr/>
        </p:nvSpPr>
        <p:spPr>
          <a:xfrm rot="1035781">
            <a:off x="873858" y="851093"/>
            <a:ext cx="1302071" cy="1372407"/>
          </a:xfrm>
          <a:custGeom>
            <a:avLst/>
            <a:gdLst/>
            <a:ahLst/>
            <a:cxnLst/>
            <a:rect l="l" t="t" r="r" b="b"/>
            <a:pathLst>
              <a:path w="1302071" h="1372407" extrusionOk="0">
                <a:moveTo>
                  <a:pt x="0" y="0"/>
                </a:moveTo>
                <a:lnTo>
                  <a:pt x="1302072" y="0"/>
                </a:lnTo>
                <a:lnTo>
                  <a:pt x="1302072" y="1372407"/>
                </a:lnTo>
                <a:lnTo>
                  <a:pt x="0" y="1372407"/>
                </a:lnTo>
                <a:lnTo>
                  <a:pt x="0" y="0"/>
                </a:lnTo>
                <a:close/>
              </a:path>
            </a:pathLst>
          </a:custGeom>
          <a:blipFill rotWithShape="1">
            <a:blip r:embed="rId4">
              <a:alphaModFix/>
            </a:blip>
            <a:stretch>
              <a:fillRect/>
            </a:stretch>
          </a:blipFill>
          <a:ln>
            <a:noFill/>
          </a:ln>
        </p:spPr>
      </p:sp>
      <p:sp>
        <p:nvSpPr>
          <p:cNvPr id="270" name="Google Shape;270;p21"/>
          <p:cNvSpPr/>
          <p:nvPr/>
        </p:nvSpPr>
        <p:spPr>
          <a:xfrm>
            <a:off x="16068101" y="8008461"/>
            <a:ext cx="2105599" cy="1721327"/>
          </a:xfrm>
          <a:custGeom>
            <a:avLst/>
            <a:gdLst/>
            <a:ahLst/>
            <a:cxnLst/>
            <a:rect l="l" t="t" r="r" b="b"/>
            <a:pathLst>
              <a:path w="2105599" h="1721327" extrusionOk="0">
                <a:moveTo>
                  <a:pt x="0" y="0"/>
                </a:moveTo>
                <a:lnTo>
                  <a:pt x="2105599" y="0"/>
                </a:lnTo>
                <a:lnTo>
                  <a:pt x="2105599" y="1721327"/>
                </a:lnTo>
                <a:lnTo>
                  <a:pt x="0" y="1721327"/>
                </a:lnTo>
                <a:lnTo>
                  <a:pt x="0" y="0"/>
                </a:lnTo>
                <a:close/>
              </a:path>
            </a:pathLst>
          </a:custGeom>
          <a:blipFill rotWithShape="1">
            <a:blip r:embed="rId5">
              <a:alphaModFix/>
            </a:blip>
            <a:stretch>
              <a:fillRect/>
            </a:stretch>
          </a:blipFill>
          <a:ln>
            <a:noFill/>
          </a:ln>
        </p:spPr>
      </p:sp>
      <p:sp>
        <p:nvSpPr>
          <p:cNvPr id="3" name="TextBox 2">
            <a:extLst>
              <a:ext uri="{FF2B5EF4-FFF2-40B4-BE49-F238E27FC236}">
                <a16:creationId xmlns:a16="http://schemas.microsoft.com/office/drawing/2014/main" id="{82401ED8-3753-42E2-966B-D5971F3AC849}"/>
              </a:ext>
            </a:extLst>
          </p:cNvPr>
          <p:cNvSpPr txBox="1"/>
          <p:nvPr/>
        </p:nvSpPr>
        <p:spPr>
          <a:xfrm>
            <a:off x="3643313" y="2686050"/>
            <a:ext cx="11001375" cy="307777"/>
          </a:xfrm>
          <a:prstGeom prst="rect">
            <a:avLst/>
          </a:prstGeom>
          <a:noFill/>
        </p:spPr>
        <p:txBody>
          <a:bodyPr wrap="square" rtlCol="0">
            <a:spAutoFit/>
          </a:bodyPr>
          <a:lstStyle/>
          <a:p>
            <a:r>
              <a:t>Qishloq xo‘jaligi O‘zbekistonda  </a:t>
            </a:r>
          </a:p>
          <a:p/>
          <a:p>
            <a:r>
              <a:t>O‘zbekiston qishloq xo‘jaligi iqtisodiyotining muhim tarmog‘i hisoblanadi. Asosiy ekinlar—paxta, bug‘doy, meva va sabzavotlardir. Iqlim sharoiti va unumdor yerlar qishloq xo‘jaligini rivojlantirishga yordam beradi. Suv resurslaridan samarali foydalanish va zamonaviy texnologiyalarni joriy etish hosildorlikni oshirishda ahamiyatga ega.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274"/>
        <p:cNvGrpSpPr/>
        <p:nvPr/>
      </p:nvGrpSpPr>
      <p:grpSpPr>
        <a:xfrm>
          <a:off x="0" y="0"/>
          <a:ext cx="0" cy="0"/>
          <a:chOff x="0" y="0"/>
          <a:chExt cx="0" cy="0"/>
        </a:xfrm>
      </p:grpSpPr>
      <p:sp>
        <p:nvSpPr>
          <p:cNvPr id="17" name="Google Shape;267;p21">
            <a:extLst>
              <a:ext uri="{FF2B5EF4-FFF2-40B4-BE49-F238E27FC236}">
                <a16:creationId xmlns:a16="http://schemas.microsoft.com/office/drawing/2014/main" id="{32AA49C2-6AC8-4A30-BBBC-4AF932F80485}"/>
              </a:ext>
            </a:extLst>
          </p:cNvPr>
          <p:cNvSpPr txBox="1"/>
          <p:nvPr/>
        </p:nvSpPr>
        <p:spPr>
          <a:xfrm>
            <a:off x="1934312" y="460204"/>
            <a:ext cx="14419375" cy="1131079"/>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7000" b="0" i="0" u="none" strike="noStrike" cap="none" dirty="0" err="1">
                <a:solidFill>
                  <a:srgbClr val="B84144"/>
                </a:solidFill>
                <a:latin typeface="Luckiest Guy"/>
                <a:ea typeface="Luckiest Guy"/>
                <a:cs typeface="Luckiest Guy"/>
                <a:sym typeface="Luckiest Guy"/>
              </a:rPr>
              <a:t>Foydlanilgan</a:t>
            </a:r>
            <a:r>
              <a:rPr lang="en-US" sz="7000" b="0" i="0" u="none" strike="noStrike" cap="none" dirty="0">
                <a:solidFill>
                  <a:srgbClr val="B84144"/>
                </a:solidFill>
                <a:latin typeface="Luckiest Guy"/>
                <a:ea typeface="Luckiest Guy"/>
                <a:cs typeface="Luckiest Guy"/>
                <a:sym typeface="Luckiest Guy"/>
              </a:rPr>
              <a:t> </a:t>
            </a:r>
            <a:r>
              <a:rPr lang="en-US" sz="7000" b="0" i="0" u="none" strike="noStrike" cap="none" dirty="0" err="1">
                <a:solidFill>
                  <a:srgbClr val="B84144"/>
                </a:solidFill>
                <a:latin typeface="Luckiest Guy"/>
                <a:ea typeface="Luckiest Guy"/>
                <a:cs typeface="Luckiest Guy"/>
                <a:sym typeface="Luckiest Guy"/>
              </a:rPr>
              <a:t>adabiyotlar</a:t>
            </a:r>
            <a:endParaRPr dirty="0"/>
          </a:p>
        </p:txBody>
      </p:sp>
      <p:sp>
        <p:nvSpPr>
          <p:cNvPr id="3" name="TextBox 2">
            <a:extLst>
              <a:ext uri="{FF2B5EF4-FFF2-40B4-BE49-F238E27FC236}">
                <a16:creationId xmlns:a16="http://schemas.microsoft.com/office/drawing/2014/main" id="{591D1C00-57D8-457D-BB35-63F1F9655727}"/>
              </a:ext>
            </a:extLst>
          </p:cNvPr>
          <p:cNvSpPr txBox="1"/>
          <p:nvPr/>
        </p:nvSpPr>
        <p:spPr>
          <a:xfrm>
            <a:off x="1800225" y="1757363"/>
            <a:ext cx="14830425" cy="307777"/>
          </a:xfrm>
          <a:prstGeom prst="rect">
            <a:avLst/>
          </a:prstGeom>
          <a:noFill/>
        </p:spPr>
        <p:txBody>
          <a:bodyPr wrap="square" rtlCol="0">
            <a:spAutoFit/>
          </a:bodyPr>
          <a:lstStyle/>
          <a:p>
            <a:r>
              <a:t>Qishloq xo‘jaligi O‘zbekistonda  </a:t>
            </a:r>
          </a:p>
          <a:p/>
          <a:p>
            <a:r>
              <a:t>O‘zbekiston qishloq xo‘jaligida paxta, g‘alla, meva va sabzavot yetishtirish muhim o‘rin tutadi. Iqlim sharoiti va unumdor yerlar qishloq xo‘jaligini rivojlantirishga yordam beradi. So‘nggi yillarda yangi texnologiyalar joriy etilib, mahsuldorlik oshirilmoqda. Biroq, suv tanqisligi va iqtisodiy qiyinchiliklar kabi muammolar ham mavjud. Barqaror rivojlanish uchun innovatsion yechimlar zarur.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ADDDB"/>
        </a:solidFill>
        <a:effectLst/>
      </p:bgPr>
    </p:bg>
    <p:spTree>
      <p:nvGrpSpPr>
        <p:cNvPr id="1" name="Shape 365"/>
        <p:cNvGrpSpPr/>
        <p:nvPr/>
      </p:nvGrpSpPr>
      <p:grpSpPr>
        <a:xfrm>
          <a:off x="0" y="0"/>
          <a:ext cx="0" cy="0"/>
          <a:chOff x="0" y="0"/>
          <a:chExt cx="0" cy="0"/>
        </a:xfrm>
      </p:grpSpPr>
      <p:sp>
        <p:nvSpPr>
          <p:cNvPr id="366" name="Google Shape;366;p27"/>
          <p:cNvSpPr/>
          <p:nvPr/>
        </p:nvSpPr>
        <p:spPr>
          <a:xfrm>
            <a:off x="-298087" y="8786135"/>
            <a:ext cx="10186398" cy="3643196"/>
          </a:xfrm>
          <a:custGeom>
            <a:avLst/>
            <a:gdLst/>
            <a:ahLst/>
            <a:cxnLst/>
            <a:rect l="l" t="t" r="r" b="b"/>
            <a:pathLst>
              <a:path w="10186398" h="3643196" extrusionOk="0">
                <a:moveTo>
                  <a:pt x="0" y="0"/>
                </a:moveTo>
                <a:lnTo>
                  <a:pt x="10186398" y="0"/>
                </a:lnTo>
                <a:lnTo>
                  <a:pt x="10186398" y="3643196"/>
                </a:lnTo>
                <a:lnTo>
                  <a:pt x="0" y="3643196"/>
                </a:lnTo>
                <a:lnTo>
                  <a:pt x="0" y="0"/>
                </a:lnTo>
                <a:close/>
              </a:path>
            </a:pathLst>
          </a:custGeom>
          <a:blipFill rotWithShape="1">
            <a:blip r:embed="rId3">
              <a:alphaModFix/>
            </a:blip>
            <a:stretch>
              <a:fillRect r="-10719"/>
            </a:stretch>
          </a:blipFill>
          <a:ln>
            <a:noFill/>
          </a:ln>
        </p:spPr>
      </p:sp>
      <p:sp>
        <p:nvSpPr>
          <p:cNvPr id="367" name="Google Shape;367;p27"/>
          <p:cNvSpPr/>
          <p:nvPr/>
        </p:nvSpPr>
        <p:spPr>
          <a:xfrm flipH="1">
            <a:off x="8826565" y="8786135"/>
            <a:ext cx="9461435" cy="3643196"/>
          </a:xfrm>
          <a:custGeom>
            <a:avLst/>
            <a:gdLst/>
            <a:ahLst/>
            <a:cxnLst/>
            <a:rect l="l" t="t" r="r" b="b"/>
            <a:pathLst>
              <a:path w="9461435" h="3643196" extrusionOk="0">
                <a:moveTo>
                  <a:pt x="9461435" y="0"/>
                </a:moveTo>
                <a:lnTo>
                  <a:pt x="0" y="0"/>
                </a:lnTo>
                <a:lnTo>
                  <a:pt x="0" y="3643196"/>
                </a:lnTo>
                <a:lnTo>
                  <a:pt x="9461435" y="3643196"/>
                </a:lnTo>
                <a:lnTo>
                  <a:pt x="9461435" y="0"/>
                </a:lnTo>
                <a:close/>
              </a:path>
            </a:pathLst>
          </a:custGeom>
          <a:blipFill rotWithShape="1">
            <a:blip r:embed="rId3">
              <a:alphaModFix/>
            </a:blip>
            <a:stretch>
              <a:fillRect l="-19205"/>
            </a:stretch>
          </a:blipFill>
          <a:ln>
            <a:noFill/>
          </a:ln>
        </p:spPr>
      </p:sp>
      <p:sp>
        <p:nvSpPr>
          <p:cNvPr id="369" name="Google Shape;369;p27"/>
          <p:cNvSpPr/>
          <p:nvPr/>
        </p:nvSpPr>
        <p:spPr>
          <a:xfrm>
            <a:off x="12504284" y="182430"/>
            <a:ext cx="7147671" cy="3302634"/>
          </a:xfrm>
          <a:custGeom>
            <a:avLst/>
            <a:gdLst/>
            <a:ahLst/>
            <a:cxnLst/>
            <a:rect l="l" t="t" r="r" b="b"/>
            <a:pathLst>
              <a:path w="7147671" h="3302634" extrusionOk="0">
                <a:moveTo>
                  <a:pt x="0" y="0"/>
                </a:moveTo>
                <a:lnTo>
                  <a:pt x="7147671" y="0"/>
                </a:lnTo>
                <a:lnTo>
                  <a:pt x="7147671" y="3302633"/>
                </a:lnTo>
                <a:lnTo>
                  <a:pt x="0" y="3302633"/>
                </a:lnTo>
                <a:lnTo>
                  <a:pt x="0" y="0"/>
                </a:lnTo>
                <a:close/>
              </a:path>
            </a:pathLst>
          </a:custGeom>
          <a:blipFill rotWithShape="1">
            <a:blip r:embed="rId4">
              <a:alphaModFix/>
            </a:blip>
            <a:stretch>
              <a:fillRect/>
            </a:stretch>
          </a:blipFill>
          <a:ln>
            <a:noFill/>
          </a:ln>
        </p:spPr>
      </p:sp>
      <p:sp>
        <p:nvSpPr>
          <p:cNvPr id="371" name="Google Shape;371;p27"/>
          <p:cNvSpPr/>
          <p:nvPr/>
        </p:nvSpPr>
        <p:spPr>
          <a:xfrm>
            <a:off x="-1844437" y="420499"/>
            <a:ext cx="6974370" cy="3943689"/>
          </a:xfrm>
          <a:custGeom>
            <a:avLst/>
            <a:gdLst/>
            <a:ahLst/>
            <a:cxnLst/>
            <a:rect l="l" t="t" r="r" b="b"/>
            <a:pathLst>
              <a:path w="6974370" h="3943689" extrusionOk="0">
                <a:moveTo>
                  <a:pt x="0" y="0"/>
                </a:moveTo>
                <a:lnTo>
                  <a:pt x="6974369" y="0"/>
                </a:lnTo>
                <a:lnTo>
                  <a:pt x="6974369" y="3943689"/>
                </a:lnTo>
                <a:lnTo>
                  <a:pt x="0" y="3943689"/>
                </a:lnTo>
                <a:lnTo>
                  <a:pt x="0" y="0"/>
                </a:lnTo>
                <a:close/>
              </a:path>
            </a:pathLst>
          </a:custGeom>
          <a:blipFill rotWithShape="1">
            <a:blip r:embed="rId5">
              <a:alphaModFix/>
            </a:blip>
            <a:stretch>
              <a:fillRect/>
            </a:stretch>
          </a:blipFill>
          <a:ln>
            <a:noFill/>
          </a:ln>
        </p:spPr>
      </p:sp>
      <p:sp>
        <p:nvSpPr>
          <p:cNvPr id="372" name="Google Shape;372;p27"/>
          <p:cNvSpPr txBox="1"/>
          <p:nvPr/>
        </p:nvSpPr>
        <p:spPr>
          <a:xfrm>
            <a:off x="3369899" y="3322884"/>
            <a:ext cx="11548200" cy="2965800"/>
          </a:xfrm>
          <a:prstGeom prst="rect">
            <a:avLst/>
          </a:prstGeom>
          <a:noFill/>
          <a:ln>
            <a:noFill/>
          </a:ln>
        </p:spPr>
        <p:txBody>
          <a:bodyPr spcFirstLastPara="1" wrap="square" lIns="0" tIns="0" rIns="0" bIns="0" anchor="t" anchorCtr="0">
            <a:spAutoFit/>
          </a:bodyPr>
          <a:lstStyle/>
          <a:p>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259</Words>
  <Application>Microsoft Office PowerPoint</Application>
  <PresentationFormat>Custom</PresentationFormat>
  <Paragraphs>31</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Ubuntu</vt:lpstr>
      <vt:lpstr>Luckiest Guy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Azamjon Rozibayev</cp:lastModifiedBy>
  <cp:revision>11</cp:revision>
  <dcterms:modified xsi:type="dcterms:W3CDTF">2025-12-18T14:53:07Z</dcterms:modified>
</cp:coreProperties>
</file>